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3_tf2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14_tf1.xml" ContentType="application/vnd.openxmlformats-officedocument.presentationml.notes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9" Type="http://schemas.openxmlformats.org/officeDocument/2006/relationships/theme" Target="theme/theme1.xml" /><Relationship Id="rId21" Type="http://schemas.openxmlformats.org/officeDocument/2006/relationships/slide" Target="slides/slide1.xml" /><Relationship Id="rId22" Type="http://schemas.openxmlformats.org/officeDocument/2006/relationships/slide" Target="slides/slide2.xml" /><Relationship Id="rId23" Type="http://schemas.openxmlformats.org/officeDocument/2006/relationships/slide" Target="slides/slide3.xml" /><Relationship Id="rId24" Type="http://schemas.openxmlformats.org/officeDocument/2006/relationships/slide" Target="slides/slide4.xml" /><Relationship Id="rId25" Type="http://schemas.openxmlformats.org/officeDocument/2006/relationships/slide" Target="slides/slide5.xml" /><Relationship Id="rId26" Type="http://schemas.openxmlformats.org/officeDocument/2006/relationships/slide" Target="slides/slide6.xml" /><Relationship Id="rId27" Type="http://schemas.openxmlformats.org/officeDocument/2006/relationships/slide" Target="slides/slide7.xml" /><Relationship Id="rId28" Type="http://schemas.openxmlformats.org/officeDocument/2006/relationships/slide" Target="slides/slide8.xml" /><Relationship Id="rId29" Type="http://schemas.openxmlformats.org/officeDocument/2006/relationships/slide" Target="slides/slide9.xml" /><Relationship Id="rId30" Type="http://schemas.openxmlformats.org/officeDocument/2006/relationships/slide" Target="slides/slide10.xml" /><Relationship Id="rId31" Type="http://schemas.openxmlformats.org/officeDocument/2006/relationships/slide" Target="slides/slide11.xml" /><Relationship Id="rId32" Type="http://schemas.openxmlformats.org/officeDocument/2006/relationships/slide" Target="slides/slide12.xml" /><Relationship Id="rId33" Type="http://schemas.openxmlformats.org/officeDocument/2006/relationships/slide" Target="slides/slide13.xml" /><Relationship Id="rId34" Type="http://schemas.openxmlformats.org/officeDocument/2006/relationships/slide" Target="slides/slide14.xml" /><Relationship Id="rId35" Type="http://schemas.openxmlformats.org/officeDocument/2006/relationships/slide" Target="slides/slide15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_tf1.xml.rels><?xml version='1.0' encoding='utf-8'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_tf1.xml.rels><?xml version='1.0' encoding='utf-8'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_tf1.xml.rels><?xml version='1.0' encoding='utf-8'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_tf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4_tf1.xml.rels><?xml version='1.0' encoding='utf-8'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_tf1.xml.rels><?xml version='1.0' encoding='utf-8'?>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_tf1.xml.rels><?xml version='1.0' encoding='utf-8'?>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_tf1.xml.rels><?xml version='1.0' encoding='utf-8'?>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_tf1.xml.rels><?xml version='1.0' encoding='utf-8'?>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_tf1.xml.rels><?xml version='1.0' encoding='utf-8'?>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_tf1.xml.rels><?xml version='1.0' encoding='utf-8'?>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_tf1.xml.rels><?xml version='1.0' encoding='utf-8'?>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_tf1.xml.rels><?xml version='1.0' encoding='utf-8'?>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_tf1.xml.rels><?xml version='1.0' encoding='utf-8'?>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_tf1.xml.rels><?xml version='1.0' encoding='utf-8'?>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大家好，我是 Tikzen。这是我的武汉一零二四黑客松参赛作品，Video Master。它是一个面向编码智能体的视频制作 Skill。我希望把一句话说清楚：让代码承担制作，把创意留给你。用户负责表达目标、提供素材和判断审美，智能体按照 Skill 的流程，把需求做成真正的视频。最后交付的不只有可以播放的 MP4，还有能够继续修改的源工程。目前发布的是零点二点零版本。接下来我会先展示作品，再讲它怎么用、为什么可以修改，以及我们已经验证了什么。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结果。这些画面都来自已经制作过的项目：主画面是代码视觉短片，右上角是产品报告模式的成片，右下角是双主持人演播室。它们分别解决不同的表达任务：视觉短片强调图形、排版和转场；产品报告强调信息层级与叙事；演播室把角色、对白和界面演示串起来。这里需要特别说明，产品报告案例展示的是这个 Skill 制作出来的作品，并不是它的操作流程录屏。我们没有把所有内容都塞进同一种固定模板，而是让不同的表达目标有不同的视觉组织方式。</a:t>
            </a:r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际做视频时，我们发现难点不只在第一次生成。做出来之后，修改才刚刚开始。改一句台词，字幕、配音和镜头长度可能都要跟着改；角色动作稍微处理不好，就会出现身体变形；只说一句“音量再小一点”，也必须知道改的是人声、背景音乐，还是插入视频的原声。右侧就是这次项目中真实出现过的反馈：二十四秒、四十九秒都有画面回退的问题，需要找到根因，而不是只修一个时间点。因此，我们真正想提供的是可定位、可修改、可验证的制作过程。</a:t>
            </a:r>
          </a:p>
        </p:txBody>
      </p:sp>
    </p:spTree>
  </p:cSld>
  <p:clrMapOvr>
    <a:masterClrMapping/>
  </p:clrMapOvr>
</p:notes>
</file>

<file path=ppt/notesSlides/notesSlide3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这里比较同一个模型在两种工作方式下的差别。直接使用模型也能制作视频，但流程、工具连接和渲染细节需要自行组织。Video Master 把台本、素材与时间线分开管理，提供可审阅的阶段产物，并复用经过多轮迭代的渲染器与检查规则。这样可以减少反复解释规则、重复生成基础设施和修复已知问题的 Token 开销，让模型把更多工作放在创作与内容修改上，也让交付质量更稳定。实际收益随任务变化，我们不承诺固定节省比例。</a:t>
            </a:r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刚才说到，制作之外更重要的是能继续修改。先用两段完整作品看一看我们最终交付的内容。左边是三十秒的开场作品，右边是十六秒的产品报告成片，两段视频都保留了原声，可以分别点击播放。观看时可以留意图形运动、转场节奏，以及信息如何被组织成一支可观看的视频。右边展示的是 Skill 产出的成片效果，不是它的操作流程录屏。接下来，我们再拆开这些作品，说明从需求到工程的具体制作方法。</a:t>
            </a:r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我们的解法，是用代码组织视频制作。首先，用户说明主题、时长、素材和风格。其次，Skill 把制作拆成方案、台本、素材、实现和检查这些有顺序的阶段。然后，能够执行命令的编码智能体完成工程代码、素材处理和声音制作。最后，用真实预览收集意见，确认后再渲染交付。这里的 Skill 是流程和能力的组织方式，执行者仍然是智能体，它需要本地文件和命令执行能力。最终有两份成果：一份是可以播放发布的 MP4，另一份是可以继续修改字幕、素材、节奏与音量的源工程。这也是为什么它适合需要不断更新内容的项目。</a:t>
            </a:r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开始使用时，先下载 Release 中的安装包，解压后把包含 SKILL.md 的 video-master 文件夹放进宿主支持的 Skill 目录，再在对话中明确要求使用它。不同宿主的发现路径可能不同，但不需要用户先去理解整个渲染引擎。需求可以像左侧这样简单：做一支水滴主题的十五秒原创短片，带配乐和转场。如果有指定观众、风格、素材和输出位置，也可以一起说明。右侧是真实的方向选择网页，用户可以比较候选方案，而不必一次写出所有参数。网页负责确认与预览；当前智能体会话读取反馈后，继续执行制作。</a:t>
            </a:r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选好方向之后，不急着直接导出。先把台本、画面内容和素材关系讲明白，再用预览验证。左侧是一条实际的台本意见：讲到表情和动作时，就切换到对应的差分。这个反馈很具体，智能体可以定位到相关台词、镜头和素材，右侧则是实际成片中角色展示的画面。对用户来说，提交意见的单位可以是某一句台词、某一页界面，或者某一个时间点。对工程来说，这些意见会落实为代码和参数的修改。先确认受影响的局部，再做完整导出，可以减少无意义的整片返工。</a:t>
            </a:r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套制作能力也不只服务于演播室。音乐短片可以把重点放在图形运动、动态排版和节奏驱动的切镜；产品报告可以把数据、结论和信息层级变成可观看的叙事；双主持人演播室则让角色、对白和大屏共同承担解释。三种模式的画面组织不同，但底层都需要素材管理、场景代码、时间线、声音和检查。这也是我希望保留的弹性：复用可靠的制作能力，同时允许重新设计布局、配色、角色和转场。页面上的作品都是本次制作案例，不能理解为安装之后只会得到这几种固定外观。</a:t>
            </a:r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角色部分最容易让作品看起来像简单的贴图，所以我们专门处理了表情、动作和站位。这次沿用蓝色的 Deepseek 和白色的 ChatGPT，准备了十张表情差分和六张动作差分。待机、思考、挥手和提问都有对应的画面，切换应当跟着内容发生。没有更多差分时，也可以使用整张图片的轻微摇摆或压缩，而不是把身体中间的一段拉长。另一条经验是主持人不能挡住大屏，角色负责引导注意力，演示内容仍然是主角。这些经验已经写回 Skill，成为后续制作时应遵守的约束。</a:t>
            </a:r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声音也有独立的制作流程。首先在台本确认后生成或整理人声，逐句保留资产，方便试听和替换。本次项目完成了四十五句对白。背景音乐另行制作，通过不同乐器与章节变化维持听感，而不是让一个短旋律机械重复。音效和插入视频的原声也各有自己的控制。混音时，主持人说话就把背景音乐压低，人声结束后再平滑恢复，避免突然跳到很大的音量。配音可以使用配置好的服务，也可以直接使用已有录音；是否启用 API 由具体制作方案决定。分轨管理让“改人声”或“改视频音量”能够准确作用到目标。</a:t>
            </a:r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这一页是内部实现，不是要求用户操作的代码界面。左侧节选自实际工程，它根据当前时间查找对应场景。完整工程还会从时间线取得角色、字幕、素材和声音各自的状态，再通过浏览器绘制每一帧，最后由 FFmpeg 完成编码和混音。预览与导出共用画面逻辑，这让修改后的结果可以反复验证。这里也有一个真实踩过的坑：发声结束，不代表画面状态就应该归零。之前的回到首帧问题，关键在于把显示状态和发声状态混在了一起。修复时要保留对话间隙应显示的状态，并检查所有相关边界，不能只盯住一个出问题的时间点。</a:t>
            </a:r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这里把两条技术路线放在一起看。Seedance 这类生成式视频模型，擅长根据提示词和多模态参考，生成镜头、运动以及视听内容；现在也支持编辑，并不是所有修改都必须整片重来。Video Master 的核心是另一种组织方式：主要视觉、排版、图形动画和转场由代码生成，再把图片差分、配音、配乐、截图与已有视频作为独立素材，放到统一时间线上本地合成。素材可以分别实现、独立保存、重复使用。需要改字幕，就改文本和排版；需要换动作，就换差分和触发参数；需要改声音，就调对应音轨，不必因此重新购买一段主要画面的模型生成。这让外部生成调用与本地渲染能够分别规划，修改范围也更容易定位，所以我们强调的是成本的可控性。已有素材可以复用，但如果要生成新的图片或声音，仍然可能产生费用，完整导出也仍然消耗本地算力。它更适合界面、信息图和演播室，不等于替代任意实拍镜头，也不承诺一个固定的省钱倍数。</a:t>
            </a:r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我们已经完成了一支八分三十七秒的正式演播室视频，规格是一零八零 P、每秒三十帧，并保留了源工程。这些数字来自实际成片和检查记录。检查对象也包括最终导出的 MP4：能否完整解码，字幕边界是否正确，对话间隙是否回退，转场和音画同步是否正常。目前源码和安装包已经以零点二点零版本发布。低成本的核心是主要视觉用代码渲染，减少逐段调用文生视频，但这不等于免费，智能体、配音、生图以及本地算力仍然可能产生费用。后续希望继续提升渲染速度、动作与声音编排，以及跨环境的稳定性；当前也不承诺实时导出。</a:t>
            </a:r>
          </a:p>
        </p:txBody>
      </p:sp>
    </p:spTree>
  </p:cSld>
  <p:clrMapOvr>
    <a:masterClrMapping/>
  </p:clrMapOvr>
</p:notes>
</file>

<file path=ppt/notesSlides/notesSlide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Video Master 希望把从一句需求到一支视频的过程，变成一个能够继续修改的工程。你可以从一个主题开始，也可以带上现成的图片、录音和案例视频，让它们组成新的作品。项目源码、安装包和使用说明都在 Tikzen 的 video-master 仓库，扫描二维码或点击项目名称即可访问。最后特别感谢 hugohe3 的 ppt-master 提供项目灵感，这份演示文稿也使用 PPT Master 制作。欢迎带着真实需求来试用，让下一支作品从这里开始。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-master-roadsho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10/18/2026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video-master-roadsho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10/18/2026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_tf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'1.0' encoding='utf-8'?>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_tf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'1.0' encoding='utf-8'?>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3_tf1.xml" /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4" Type="http://schemas.openxmlformats.org/officeDocument/2006/relationships/notesSlide" Target="../notesSlides/notesSlide3_tf2.xml" />
</Relationships>
</file>

<file path=ppt/slides/_rels/slide5.xml.rels><?xml version='1.0' encoding='utf-8'?>
<Relationships xmlns="http://schemas.openxmlformats.org/package/2006/relationships"><Relationship Id="rId8" Type="http://schemas.openxmlformats.org/officeDocument/2006/relationships/image" Target="../media/image9.png" /><Relationship Id="rId3" Type="http://schemas.microsoft.com/office/2007/relationships/media" Target="../media/media2.mp4" /><Relationship Id="rId7" Type="http://schemas.openxmlformats.org/officeDocument/2006/relationships/image" Target="../media/image8.png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6" Type="http://schemas.openxmlformats.org/officeDocument/2006/relationships/notesSlide" Target="../notesSlides/notesSlide4_tf1.xml" /><Relationship Id="rId5" Type="http://schemas.openxmlformats.org/officeDocument/2006/relationships/slideLayout" Target="../slideLayouts/slideLayout1.xml" /><Relationship Id="rId10" Type="http://schemas.openxmlformats.org/officeDocument/2006/relationships/image" Target="../media/image11.png" /><Relationship Id="rId4" Type="http://schemas.openxmlformats.org/officeDocument/2006/relationships/video" Target="../media/media2.mp4" /><Relationship Id="rId9" Type="http://schemas.openxmlformats.org/officeDocument/2006/relationships/image" Target="../media/image10.png" 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notesSlide" Target="../notesSlides/notesSlide5_tf1.xml" /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6_tf1.xml" /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7_tf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4.png" /></Relationships>
</file>

<file path=ppt/slides/_rels/slide9.xml.rels><?xml version='1.0' encoding='utf-8'?>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8_tf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10.xml.rels><?xml version='1.0' encoding='utf-8'?>
<Relationships xmlns="http://schemas.openxmlformats.org/package/2006/relationships"><Relationship Id="rId8" Type="http://schemas.openxmlformats.org/officeDocument/2006/relationships/image" Target="../media/image23.png" /><Relationship Id="rId3" Type="http://schemas.openxmlformats.org/officeDocument/2006/relationships/image" Target="../media/image18.png" /><Relationship Id="rId7" Type="http://schemas.openxmlformats.org/officeDocument/2006/relationships/image" Target="../media/image22.png" /><Relationship Id="rId2" Type="http://schemas.openxmlformats.org/officeDocument/2006/relationships/notesSlide" Target="../notesSlides/notesSlide9_tf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11.xml.rels><?xml version='1.0' encoding='utf-8'?>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10_tf1.xml" /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2" Type="http://schemas.openxmlformats.org/officeDocument/2006/relationships/notesSlide" Target="../notesSlides/notesSlide11_tf1.xml" /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3" Type="http://schemas.openxmlformats.org/officeDocument/2006/relationships/hyperlink" Target="https://seed.bytedance.com/en/seedance2_0" TargetMode="External" /><Relationship Id="rId2" Type="http://schemas.openxmlformats.org/officeDocument/2006/relationships/notesSlide" Target="../notesSlides/notesSlide12_tf1.xml" /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13_tf1.xml" /><Relationship Id="rId1" Type="http://schemas.openxmlformats.org/officeDocument/2006/relationships/slideLayout" Target="../slideLayouts/slideLayout1.xml" /></Relationships>
</file>

<file path=ppt/slides/_rels/slide15.xml.rels><?xml version='1.0' encoding='utf-8'?>
<Relationships xmlns="http://schemas.openxmlformats.org/package/2006/relationships"><Relationship Id="rId3" Type="http://schemas.openxmlformats.org/officeDocument/2006/relationships/image" Target="../media/image26.png" /><Relationship Id="rId7" Type="http://schemas.openxmlformats.org/officeDocument/2006/relationships/hyperlink" Target="https://github.com/hugohe3/ppt-master" TargetMode="External" /><Relationship Id="rId2" Type="http://schemas.openxmlformats.org/officeDocument/2006/relationships/notesSlide" Target="../notesSlides/notesSlide14_tf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8.png" /><Relationship Id="rId5" Type="http://schemas.openxmlformats.org/officeDocument/2006/relationships/hyperlink" Target="https://github.com/Tikzen/video-master" TargetMode="External" /><Relationship Id="rId4" Type="http://schemas.openxmlformats.org/officeDocument/2006/relationships/image" Target="../media/image27.png" 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gradFill>
          <a:gsLst>
            <a:gs pos="0">
              <a:srgbClr val="FFFFFF"/>
            </a:gs>
            <a:gs pos="100000">
              <a:srgbClr val="DCEE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it"/>
          <p:cNvSpPr/>
          <p:nvPr/>
        </p:nvSpPr>
        <p:spPr>
          <a:xfrm>
            <a:off x="6762750" y="523875"/>
            <a:ext cx="5715000" cy="5715000"/>
          </a:xfrm>
          <a:prstGeom prst="ellipse">
            <a:avLst/>
          </a:prstGeom>
          <a:noFill/>
          <a:ln w="19050">
            <a:solidFill>
              <a:srgbClr val="BDD9FF"/>
            </a:solidFill>
          </a:ln>
        </p:spPr>
      </p:sp>
      <p:sp>
        <p:nvSpPr>
          <p:cNvPr id="3" name="orbit-inner"/>
          <p:cNvSpPr/>
          <p:nvPr/>
        </p:nvSpPr>
        <p:spPr>
          <a:xfrm>
            <a:off x="7239000" y="1000125"/>
            <a:ext cx="4762500" cy="4762500"/>
          </a:xfrm>
          <a:prstGeom prst="ellipse">
            <a:avLst/>
          </a:prstGeom>
          <a:noFill/>
          <a:ln w="19050">
            <a:solidFill>
              <a:srgbClr val="CFDFFF"/>
            </a:solidFill>
          </a:ln>
        </p:spPr>
      </p:sp>
      <p:grpSp>
        <p:nvGrpSpPr>
          <p:cNvPr id="6" name="event"/>
          <p:cNvGrpSpPr/>
          <p:nvPr/>
        </p:nvGrpSpPr>
        <p:grpSpPr>
          <a:xfrm>
            <a:off x="457200" y="320675"/>
            <a:ext cx="3207483" cy="381381"/>
            <a:chOff x="457200" y="320675"/>
            <a:chExt cx="3207483" cy="381381"/>
          </a:xfrm>
        </p:grpSpPr>
        <p:sp>
          <p:nvSpPr>
            <p:cNvPr id="4" name="Rectangle 4"/>
            <p:cNvSpPr/>
            <p:nvPr/>
          </p:nvSpPr>
          <p:spPr>
            <a:xfrm>
              <a:off x="457200" y="323850"/>
              <a:ext cx="76200" cy="285750"/>
            </a:xfrm>
            <a:prstGeom prst="rect">
              <a:avLst/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5894" y="320675"/>
              <a:ext cx="29887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武汉1024黑客松参赛作品</a:t>
              </a:r>
            </a:p>
          </p:txBody>
        </p:sp>
      </p:grpSp>
      <p:grpSp>
        <p:nvGrpSpPr>
          <p:cNvPr id="9" name="product-name"/>
          <p:cNvGrpSpPr/>
          <p:nvPr/>
        </p:nvGrpSpPr>
        <p:grpSpPr>
          <a:xfrm>
            <a:off x="438150" y="1260475"/>
            <a:ext cx="4356545" cy="1117600"/>
            <a:chOff x="438150" y="1260475"/>
            <a:chExt cx="4356545" cy="1117600"/>
          </a:xfrm>
        </p:grpSpPr>
        <p:sp>
          <p:nvSpPr>
            <p:cNvPr id="7" name="TextBox 7"/>
            <p:cNvSpPr txBox="1"/>
            <p:nvPr/>
          </p:nvSpPr>
          <p:spPr>
            <a:xfrm>
              <a:off x="449580" y="1260475"/>
              <a:ext cx="2426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CODE → MOTION → STORY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8150" y="1444625"/>
              <a:ext cx="435654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Video Master</a:t>
              </a:r>
            </a:p>
          </p:txBody>
        </p:sp>
      </p:grpSp>
      <p:grpSp>
        <p:nvGrpSpPr>
          <p:cNvPr id="13" name="cover-promise"/>
          <p:cNvGrpSpPr/>
          <p:nvPr/>
        </p:nvGrpSpPr>
        <p:grpSpPr>
          <a:xfrm>
            <a:off x="440436" y="2470150"/>
            <a:ext cx="3143250" cy="1664970"/>
            <a:chOff x="440436" y="2470150"/>
            <a:chExt cx="3143250" cy="1664970"/>
          </a:xfrm>
        </p:grpSpPr>
        <p:sp>
          <p:nvSpPr>
            <p:cNvPr id="10" name="TextBox 10"/>
            <p:cNvSpPr txBox="1"/>
            <p:nvPr/>
          </p:nvSpPr>
          <p:spPr>
            <a:xfrm>
              <a:off x="440436" y="247015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让代码承担制作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0436" y="3079750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把创意留给你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8630" y="3841750"/>
              <a:ext cx="2908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面向编码智能体的视频制作 Skill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5448300" y="1257300"/>
            <a:ext cx="6286500" cy="4324350"/>
          </a:xfrm>
          <a:prstGeom prst="snipRoundRect">
            <a:avLst/>
          </a:prstGeom>
          <a:solidFill>
            <a:srgbClr val="D6E9FF"/>
          </a:solidFill>
          <a:ln>
            <a:noFill/>
          </a:ln>
        </p:spPr>
      </p:sp>
      <p:grpSp>
        <p:nvGrpSpPr>
          <p:cNvPr id="20" name="hero-scene"/>
          <p:cNvGrpSpPr/>
          <p:nvPr/>
        </p:nvGrpSpPr>
        <p:grpSpPr>
          <a:xfrm>
            <a:off x="5410200" y="1562100"/>
            <a:ext cx="6660356" cy="4872037"/>
            <a:chOff x="5410200" y="1562100"/>
            <a:chExt cx="6660356" cy="4872037"/>
          </a:xfrm>
        </p:grpSpPr>
        <p:grpSp>
          <p:nvGrpSpPr>
            <p:cNvPr id="17" name="hero-screen"/>
            <p:cNvGrpSpPr/>
            <p:nvPr/>
          </p:nvGrpSpPr>
          <p:grpSpPr>
            <a:xfrm>
              <a:off x="5657850" y="1562100"/>
              <a:ext cx="5867400" cy="3429000"/>
              <a:chOff x="5657850" y="1562100"/>
              <a:chExt cx="5867400" cy="3429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657850" y="1562100"/>
                <a:ext cx="5867400" cy="3429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pic>
            <p:nvPicPr>
              <p:cNvPr id="16" name="Image 1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72150" y="1676400"/>
                <a:ext cx="5638800" cy="3171825"/>
              </a:xfrm>
              <a:prstGeom prst="rect">
                <a:avLst/>
              </a:prstGeom>
            </p:spPr>
          </p:pic>
        </p:grp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0200" y="3719512"/>
              <a:ext cx="2400300" cy="2714625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7394" y="3676650"/>
              <a:ext cx="2443162" cy="2743200"/>
            </a:xfrm>
            <a:prstGeom prst="rect">
              <a:avLst/>
            </a:prstGeom>
          </p:spPr>
        </p:pic>
      </p:grpSp>
      <p:grpSp>
        <p:nvGrpSpPr>
          <p:cNvPr id="27" name="value-tags"/>
          <p:cNvGrpSpPr/>
          <p:nvPr/>
        </p:nvGrpSpPr>
        <p:grpSpPr>
          <a:xfrm>
            <a:off x="457200" y="4524375"/>
            <a:ext cx="4410075" cy="438150"/>
            <a:chOff x="457200" y="4524375"/>
            <a:chExt cx="4410075" cy="438150"/>
          </a:xfrm>
        </p:grpSpPr>
        <p:sp>
          <p:nvSpPr>
            <p:cNvPr id="21" name="Rectangle 21"/>
            <p:cNvSpPr/>
            <p:nvPr/>
          </p:nvSpPr>
          <p:spPr>
            <a:xfrm>
              <a:off x="457200" y="4524375"/>
              <a:ext cx="1381125" cy="438150"/>
            </a:xfrm>
            <a:prstGeom prst="roundRect">
              <a:avLst>
                <a:gd name="adj" fmla="val 50000"/>
              </a:avLst>
            </a:prstGeom>
            <a:solidFill>
              <a:srgbClr val="D8E9F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71675" y="4524375"/>
              <a:ext cx="1381125" cy="438150"/>
            </a:xfrm>
            <a:prstGeom prst="roundRect">
              <a:avLst>
                <a:gd name="adj" fmla="val 50000"/>
              </a:avLst>
            </a:prstGeom>
            <a:solidFill>
              <a:srgbClr val="D8E9F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86150" y="4524375"/>
              <a:ext cx="1381125" cy="438150"/>
            </a:xfrm>
            <a:prstGeom prst="roundRect">
              <a:avLst>
                <a:gd name="adj" fmla="val 50000"/>
              </a:avLst>
            </a:prstGeom>
            <a:solidFill>
              <a:srgbClr val="D8E9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9130" y="46418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代码生成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73605" y="46418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低成本目标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88080" y="46418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可修改工程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457200" y="5562600"/>
            <a:ext cx="876300" cy="457200"/>
          </a:xfrm>
          <a:prstGeom prst="chevron">
            <a:avLst/>
          </a:prstGeom>
          <a:solidFill>
            <a:srgbClr val="287AF0"/>
          </a:solidFill>
          <a:ln>
            <a:noFill/>
          </a:ln>
        </p:spPr>
      </p:sp>
      <p:grpSp>
        <p:nvGrpSpPr>
          <p:cNvPr id="31" name="cover-release"/>
          <p:cNvGrpSpPr/>
          <p:nvPr/>
        </p:nvGrpSpPr>
        <p:grpSpPr>
          <a:xfrm>
            <a:off x="1533144" y="5578475"/>
            <a:ext cx="2194712" cy="571246"/>
            <a:chOff x="1533144" y="5578475"/>
            <a:chExt cx="2194712" cy="571246"/>
          </a:xfrm>
        </p:grpSpPr>
        <p:sp>
          <p:nvSpPr>
            <p:cNvPr id="29" name="TextBox 29"/>
            <p:cNvSpPr txBox="1"/>
            <p:nvPr/>
          </p:nvSpPr>
          <p:spPr>
            <a:xfrm>
              <a:off x="1533144" y="5578475"/>
              <a:ext cx="21037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v0.2.0 · Tikzen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6954" y="5915025"/>
              <a:ext cx="2190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从一句需求，到 MP4 + 源工程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505575"/>
              <a:ext cx="2879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VIDEO MASTER / PROJECT SHOWCASE</a:t>
              </a:r>
            </a:p>
          </p:txBody>
        </p:sp>
        <p:sp>
          <p:nvSpPr>
            <p:cNvPr id="33" name="TextBox 33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01 / 15</a:t>
              </a:r>
            </a:p>
          </p:txBody>
        </p:sp>
      </p:grpSp>
    </p:spTree>
  </p:cSld>
  <p:clrMapOvr>
    <a:masterClrMapping/>
  </p:clrMapOvr>
  <mc:AlternateContent>
    <mc:Choice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60"/>
                            </p:stCondLst>
                            <p:childTnLst>
                              <p:par>
                                <p:cTn id="14" presetID="53" presetClass="entr" presetSubtype="16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80"/>
                            </p:stCondLst>
                            <p:childTnLst>
                              <p:par>
                                <p:cTn id="20" presetID="37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14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gradFill>
          <a:gsLst>
            <a:gs pos="0">
              <a:srgbClr val="09213F"/>
            </a:gs>
            <a:gs pos="100000">
              <a:srgbClr val="164C8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440436" y="374650"/>
            <a:ext cx="11282934" cy="988314"/>
            <a:chOff x="440436" y="374650"/>
            <a:chExt cx="11282934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2BAFF"/>
                  </a:solidFill>
                  <a:latin typeface="+mn-lt"/>
                  <a:ea typeface="+mn-ea"/>
                  <a:cs typeface="+mn-cs"/>
                </a:rPr>
                <a:t>01 / 先看结果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5560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这些作品，来自同一套 Skill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27970" y="393700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REAL OUTPUT</a:t>
              </a:r>
            </a:p>
          </p:txBody>
        </p:sp>
      </p:grpSp>
      <p:grpSp>
        <p:nvGrpSpPr>
          <p:cNvPr id="20" name="showcase-screen"/>
          <p:cNvGrpSpPr/>
          <p:nvPr/>
        </p:nvGrpSpPr>
        <p:grpSpPr>
          <a:xfrm>
            <a:off x="457200" y="1600200"/>
            <a:ext cx="7810500" cy="4514850"/>
            <a:chOff x="457200" y="1600200"/>
            <a:chExt cx="7810500" cy="4514850"/>
          </a:xfrm>
        </p:grpSpPr>
        <p:sp>
          <p:nvSpPr>
            <p:cNvPr id="6" name="Rectangle 6"/>
            <p:cNvSpPr/>
            <p:nvPr/>
          </p:nvSpPr>
          <p:spPr>
            <a:xfrm>
              <a:off x="457200" y="1600200"/>
              <a:ext cx="7810500" cy="45148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714500"/>
              <a:ext cx="7581900" cy="4267200"/>
            </a:xfrm>
            <a:prstGeom prst="rect">
              <a:avLst/>
            </a:prstGeom>
          </p:spPr>
        </p:pic>
        <p:grpSp>
          <p:nvGrpSpPr>
            <p:cNvPr id="19" name="screen-caption"/>
            <p:cNvGrpSpPr/>
            <p:nvPr/>
          </p:nvGrpSpPr>
          <p:grpSpPr>
            <a:xfrm>
              <a:off x="685800" y="5267325"/>
              <a:ext cx="6096000" cy="581025"/>
              <a:chOff x="685800" y="5267325"/>
              <a:chExt cx="6096000" cy="58102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85800" y="5267325"/>
                <a:ext cx="6096000" cy="581025"/>
              </a:xfrm>
              <a:prstGeom prst="roundRect">
                <a:avLst>
                  <a:gd name="adj" fmla="val 16393"/>
                </a:avLst>
              </a:prstGeom>
              <a:solidFill>
                <a:srgbClr val="09213F">
                  <a:alpha val="94000"/>
                </a:srgbClr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898525" y="5451475"/>
                <a:ext cx="203199" cy="203199"/>
                <a:chOff x="898525" y="5451475"/>
                <a:chExt cx="203199" cy="203199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898525" y="5451475"/>
                  <a:ext cx="203199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203199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77800" y="0"/>
                      </a:lnTo>
                      <a:cubicBezTo>
                        <a:pt x="191828" y="0"/>
                        <a:pt x="203199" y="11372"/>
                        <a:pt x="203199" y="25400"/>
                      </a:cubicBezTo>
                      <a:lnTo>
                        <a:pt x="203199" y="177800"/>
                      </a:lnTo>
                      <a:cubicBezTo>
                        <a:pt x="203199" y="191828"/>
                        <a:pt x="191828" y="203199"/>
                        <a:pt x="177800" y="203199"/>
                      </a:cubicBezTo>
                      <a:lnTo>
                        <a:pt x="25400" y="203199"/>
                      </a:lnTo>
                      <a:cubicBezTo>
                        <a:pt x="11372" y="203199"/>
                        <a:pt x="0" y="191828"/>
                        <a:pt x="0" y="1778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rgbClr val="8FC8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49325" y="5451475"/>
                  <a:ext cx="9525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3199">
                      <a:moveTo>
                        <a:pt x="0" y="0"/>
                      </a:moveTo>
                      <a:lnTo>
                        <a:pt x="0" y="203199"/>
                      </a:lnTo>
                    </a:path>
                  </a:pathLst>
                </a:custGeom>
                <a:noFill/>
                <a:ln w="25400">
                  <a:solidFill>
                    <a:srgbClr val="8FC8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50924" y="5451475"/>
                  <a:ext cx="9525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3199">
                      <a:moveTo>
                        <a:pt x="0" y="0"/>
                      </a:moveTo>
                      <a:lnTo>
                        <a:pt x="0" y="203199"/>
                      </a:lnTo>
                    </a:path>
                  </a:pathLst>
                </a:custGeom>
                <a:noFill/>
                <a:ln w="25400">
                  <a:solidFill>
                    <a:srgbClr val="8FC8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98525" y="5502275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rgbClr val="8FC8FF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98525" y="5603874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rgbClr val="8FC8FF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898525" y="5553075"/>
                  <a:ext cx="20319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9525">
                      <a:moveTo>
                        <a:pt x="0" y="0"/>
                      </a:move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8FC8FF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50924" y="5502275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rgbClr val="8FC8FF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50924" y="5603874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rgbClr val="8FC8FF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323594" y="5397500"/>
                <a:ext cx="395744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代码视觉短片：图形、排版、转场</a:t>
                </a:r>
              </a:p>
            </p:txBody>
          </p:sp>
        </p:grpSp>
      </p:grpSp>
      <p:grpSp>
        <p:nvGrpSpPr>
          <p:cNvPr id="23" name="report-sample"/>
          <p:cNvGrpSpPr/>
          <p:nvPr/>
        </p:nvGrpSpPr>
        <p:grpSpPr>
          <a:xfrm>
            <a:off x="8553450" y="1600200"/>
            <a:ext cx="3181350" cy="2163445"/>
            <a:chOff x="8553450" y="1600200"/>
            <a:chExt cx="3181350" cy="2163445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3450" y="1600200"/>
              <a:ext cx="3181350" cy="17907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8564880" y="347027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产品报告成片 · 信息与节奏</a:t>
              </a:r>
            </a:p>
          </p:txBody>
        </p:sp>
      </p:grpSp>
      <p:grpSp>
        <p:nvGrpSpPr>
          <p:cNvPr id="26" name="studio-sample"/>
          <p:cNvGrpSpPr/>
          <p:nvPr/>
        </p:nvGrpSpPr>
        <p:grpSpPr>
          <a:xfrm>
            <a:off x="8553450" y="3905250"/>
            <a:ext cx="3181350" cy="2201545"/>
            <a:chOff x="8553450" y="3905250"/>
            <a:chExt cx="3181350" cy="2201545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53450" y="3905250"/>
              <a:ext cx="3181350" cy="17907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8564880" y="581342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双主持人演播室 · 角色与讲解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451104" y="6429375"/>
            <a:ext cx="11289792" cy="234696"/>
            <a:chOff x="451104" y="6429375"/>
            <a:chExt cx="112897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6429375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DDC"/>
                  </a:solidFill>
                  <a:latin typeface="+mn-lt"/>
                  <a:ea typeface="+mn-ea"/>
                  <a:cs typeface="+mn-cs"/>
                </a:rPr>
                <a:t>画面取自已制作项目；产品报告案例是成片效果，不是操作流程录屏。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11187494" y="64293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9DBDDC"/>
                  </a:solidFill>
                  <a:latin typeface="Microsoft YaHei"/>
                  <a:ea typeface="Microsoft YaHei"/>
                  <a:cs typeface="Microsoft YaHei"/>
                </a:rPr>
                <a:t>02 / 15</a:t>
              </a:r>
            </a:p>
          </p:txBody>
        </p:sp>
      </p:grpSp>
    </p:spTree>
  </p:cSld>
  <p:clrMapOvr>
    <a:masterClrMapping/>
  </p:clrMapOvr>
  <mc:AlternateContent>
    <mc:Choice Requires="p14">
      <p:transition spd="slow">
        <p14:warp dir="in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5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1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field"/>
          <p:cNvSpPr/>
          <p:nvPr/>
        </p:nvSpPr>
        <p:spPr>
          <a:xfrm>
            <a:off x="7219950" y="0"/>
            <a:ext cx="4972050" cy="6858000"/>
          </a:xfrm>
          <a:prstGeom prst="rect">
            <a:avLst/>
          </a:prstGeom>
          <a:solidFill>
            <a:srgbClr val="E2EFFF"/>
          </a:solidFill>
          <a:ln>
            <a:noFill/>
          </a:ln>
        </p:spPr>
      </p:sp>
      <p:grpSp>
        <p:nvGrpSpPr>
          <p:cNvPr id="5" name="headline"/>
          <p:cNvGrpSpPr/>
          <p:nvPr/>
        </p:nvGrpSpPr>
        <p:grpSpPr>
          <a:xfrm>
            <a:off x="440436" y="374650"/>
            <a:ext cx="6252972" cy="988314"/>
            <a:chOff x="440436" y="374650"/>
            <a:chExt cx="6252972" cy="988314"/>
          </a:xfrm>
        </p:grpSpPr>
        <p:sp>
          <p:nvSpPr>
            <p:cNvPr id="3" name="TextBox 3"/>
            <p:cNvSpPr txBox="1"/>
            <p:nvPr/>
          </p:nvSpPr>
          <p:spPr>
            <a:xfrm>
              <a:off x="449580" y="374650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02 / 为什么需要它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0436" y="71755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视频做出来之后，修改才刚开始</a:t>
              </a:r>
            </a:p>
          </p:txBody>
        </p:sp>
      </p:grpSp>
      <p:grpSp>
        <p:nvGrpSpPr>
          <p:cNvPr id="12" name="pain-caption"/>
          <p:cNvGrpSpPr/>
          <p:nvPr/>
        </p:nvGrpSpPr>
        <p:grpSpPr>
          <a:xfrm>
            <a:off x="514350" y="1901825"/>
            <a:ext cx="4251960" cy="737870"/>
            <a:chOff x="514350" y="1901825"/>
            <a:chExt cx="4251960" cy="737870"/>
          </a:xfrm>
        </p:grpSpPr>
        <p:grpSp>
          <p:nvGrpSpPr>
            <p:cNvPr id="9" name="Group 9"/>
            <p:cNvGrpSpPr/>
            <p:nvPr/>
          </p:nvGrpSpPr>
          <p:grpSpPr>
            <a:xfrm>
              <a:off x="514350" y="1971675"/>
              <a:ext cx="342900" cy="304800"/>
              <a:chOff x="514350" y="1971675"/>
              <a:chExt cx="342900" cy="304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514350" y="2047875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76200" y="0"/>
                    </a:moveTo>
                    <a:lnTo>
                      <a:pt x="0" y="762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81050" y="2047875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0"/>
                    </a:moveTo>
                    <a:lnTo>
                      <a:pt x="762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7700" y="1971675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7620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114044" y="19018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改一句台词，牵动多处内容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6330" y="23463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字幕、配音、镜头长度和画面需要同步。</a:t>
              </a:r>
            </a:p>
          </p:txBody>
        </p:sp>
      </p:grpSp>
      <p:grpSp>
        <p:nvGrpSpPr>
          <p:cNvPr id="20" name="pain-motion"/>
          <p:cNvGrpSpPr/>
          <p:nvPr/>
        </p:nvGrpSpPr>
        <p:grpSpPr>
          <a:xfrm>
            <a:off x="514350" y="3082925"/>
            <a:ext cx="4251960" cy="737870"/>
            <a:chOff x="514350" y="3082925"/>
            <a:chExt cx="4251960" cy="737870"/>
          </a:xfrm>
        </p:grpSpPr>
        <p:grpSp>
          <p:nvGrpSpPr>
            <p:cNvPr id="17" name="Group 17"/>
            <p:cNvGrpSpPr/>
            <p:nvPr/>
          </p:nvGrpSpPr>
          <p:grpSpPr>
            <a:xfrm>
              <a:off x="514350" y="3133725"/>
              <a:ext cx="342900" cy="342900"/>
              <a:chOff x="514350" y="3133725"/>
              <a:chExt cx="342900" cy="3429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42950" y="3228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90" y="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14350" y="3133725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285750"/>
                    </a:lnTo>
                    <a:cubicBezTo>
                      <a:pt x="342900" y="317313"/>
                      <a:pt x="317313" y="342900"/>
                      <a:pt x="285750" y="342900"/>
                    </a:cubicBezTo>
                    <a:lnTo>
                      <a:pt x="57150" y="342900"/>
                    </a:lnTo>
                    <a:cubicBezTo>
                      <a:pt x="25587" y="342900"/>
                      <a:pt x="0" y="317313"/>
                      <a:pt x="0" y="2857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14350" y="3269113"/>
                <a:ext cx="247650" cy="112262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12262">
                    <a:moveTo>
                      <a:pt x="0" y="112262"/>
                    </a:moveTo>
                    <a:lnTo>
                      <a:pt x="95250" y="17012"/>
                    </a:lnTo>
                    <a:cubicBezTo>
                      <a:pt x="112928" y="0"/>
                      <a:pt x="134722" y="0"/>
                      <a:pt x="152400" y="17012"/>
                    </a:cubicBezTo>
                    <a:lnTo>
                      <a:pt x="247650" y="112262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23900" y="3307213"/>
                <a:ext cx="133350" cy="74162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4162">
                    <a:moveTo>
                      <a:pt x="0" y="36062"/>
                    </a:moveTo>
                    <a:lnTo>
                      <a:pt x="19050" y="17012"/>
                    </a:lnTo>
                    <a:cubicBezTo>
                      <a:pt x="36728" y="0"/>
                      <a:pt x="58522" y="0"/>
                      <a:pt x="76200" y="17012"/>
                    </a:cubicBezTo>
                    <a:lnTo>
                      <a:pt x="133350" y="74162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14044" y="30829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一个小动作，也会影响观感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6330" y="35274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角色扭曲、停顿跳帧，都需要精准定位。</a:t>
              </a:r>
            </a:p>
          </p:txBody>
        </p:sp>
      </p:grpSp>
      <p:grpSp>
        <p:nvGrpSpPr>
          <p:cNvPr id="33" name="pain-audio"/>
          <p:cNvGrpSpPr/>
          <p:nvPr/>
        </p:nvGrpSpPr>
        <p:grpSpPr>
          <a:xfrm>
            <a:off x="533400" y="4264025"/>
            <a:ext cx="4636770" cy="737870"/>
            <a:chOff x="533400" y="4264025"/>
            <a:chExt cx="4636770" cy="737870"/>
          </a:xfrm>
        </p:grpSpPr>
        <p:grpSp>
          <p:nvGrpSpPr>
            <p:cNvPr id="30" name="Group 30"/>
            <p:cNvGrpSpPr/>
            <p:nvPr/>
          </p:nvGrpSpPr>
          <p:grpSpPr>
            <a:xfrm>
              <a:off x="533400" y="4333875"/>
              <a:ext cx="304800" cy="304800"/>
              <a:chOff x="533400" y="4333875"/>
              <a:chExt cx="304800" cy="304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85800" y="43338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3400" y="437197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62000" y="437197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71500" y="44481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33400" y="44862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7700" y="44862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42950" y="45624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33400" y="4600575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9150" y="460057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114044" y="4264025"/>
              <a:ext cx="39981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“再小一点”，需要改到正确的轨道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6330" y="47085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人声、配乐、视频原声，不能混成一个旋钮。</a:t>
              </a:r>
            </a:p>
          </p:txBody>
        </p:sp>
      </p:grpSp>
      <p:grpSp>
        <p:nvGrpSpPr>
          <p:cNvPr id="39" name="real-feedback"/>
          <p:cNvGrpSpPr/>
          <p:nvPr/>
        </p:nvGrpSpPr>
        <p:grpSpPr>
          <a:xfrm>
            <a:off x="7620000" y="1733550"/>
            <a:ext cx="4114800" cy="1828800"/>
            <a:chOff x="7620000" y="1733550"/>
            <a:chExt cx="4114800" cy="1828800"/>
          </a:xfrm>
        </p:grpSpPr>
        <p:sp>
          <p:nvSpPr>
            <p:cNvPr id="34" name="Rectangle 34"/>
            <p:cNvSpPr/>
            <p:nvPr/>
          </p:nvSpPr>
          <p:spPr>
            <a:xfrm>
              <a:off x="7620000" y="1733550"/>
              <a:ext cx="4114800" cy="18288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42504" y="19145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来自这次视频制作的真实反馈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38694" y="2273300"/>
              <a:ext cx="34435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“24s、49秒处都有这个问题”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40980" y="276542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“你找到问题根源后，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40980" y="3070225"/>
              <a:ext cx="1741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想办法全部修复。”</a:t>
              </a:r>
            </a:p>
          </p:txBody>
        </p:sp>
      </p:grpSp>
      <p:grpSp>
        <p:nvGrpSpPr>
          <p:cNvPr id="41" name="thinking-host"/>
          <p:cNvGrpSpPr/>
          <p:nvPr/>
        </p:nvGrpSpPr>
        <p:grpSpPr>
          <a:xfrm>
            <a:off x="8753475" y="3695700"/>
            <a:ext cx="2209800" cy="2647950"/>
            <a:chOff x="8753475" y="3695700"/>
            <a:chExt cx="2209800" cy="2647950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3475" y="3695700"/>
              <a:ext cx="2209800" cy="2647950"/>
            </a:xfrm>
            <a:prstGeom prst="rect">
              <a:avLst/>
            </a:prstGeom>
          </p:spPr>
        </p:pic>
      </p:grpSp>
      <p:grpSp>
        <p:nvGrpSpPr>
          <p:cNvPr id="44" name="takeaway"/>
          <p:cNvGrpSpPr/>
          <p:nvPr/>
        </p:nvGrpSpPr>
        <p:grpSpPr>
          <a:xfrm>
            <a:off x="457200" y="5524500"/>
            <a:ext cx="6629400" cy="628650"/>
            <a:chOff x="457200" y="5524500"/>
            <a:chExt cx="6629400" cy="628650"/>
          </a:xfrm>
        </p:grpSpPr>
        <p:sp>
          <p:nvSpPr>
            <p:cNvPr id="42" name="Rectangle 42"/>
            <p:cNvSpPr/>
            <p:nvPr/>
          </p:nvSpPr>
          <p:spPr>
            <a:xfrm>
              <a:off x="457200" y="5524500"/>
              <a:ext cx="6629400" cy="628650"/>
            </a:xfrm>
            <a:prstGeom prst="roundRect">
              <a:avLst>
                <a:gd name="adj" fmla="val 21212"/>
              </a:avLst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894" y="56927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我们需要的是：</a:t>
              </a:r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可定位、可修改、可验证。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451104" y="650557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问题来自真实迭代，而非假设的用户痛点</a:t>
              </a:r>
            </a:p>
          </p:txBody>
        </p:sp>
        <p:sp>
          <p:nvSpPr>
            <p:cNvPr id="46" name="TextBox 46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03 / 15</a:t>
              </a:r>
            </a:p>
          </p:txBody>
        </p:sp>
      </p:grp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80"/>
                            </p:stCondLst>
                            <p:childTnLst>
                              <p:par>
                                <p:cTn id="23" presetID="37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440436" y="374650"/>
            <a:ext cx="7035247" cy="1267841"/>
            <a:chOff x="440436" y="374650"/>
            <a:chExt cx="7035247" cy="1267841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37965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Microsoft YaHei"/>
                  <a:ea typeface="Microsoft YaHei"/>
                  <a:cs typeface="Microsoft YaHei"/>
                </a:rPr>
                <a:t>02 / 为什么需要它 · 直接使用模型与 Skill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703524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同一模型，配套 Skill 后有什么不同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9199" y="1333500"/>
              <a:ext cx="646633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强模型负责创作与实现，Skill 提供可复用的流程、工具和渲染经验。</a:t>
              </a:r>
            </a:p>
          </p:txBody>
        </p:sp>
      </p:grpSp>
      <p:grpSp>
        <p:nvGrpSpPr>
          <p:cNvPr id="10" name="column-headings"/>
          <p:cNvGrpSpPr/>
          <p:nvPr/>
        </p:nvGrpSpPr>
        <p:grpSpPr>
          <a:xfrm>
            <a:off x="457200" y="1771650"/>
            <a:ext cx="11277600" cy="533400"/>
            <a:chOff x="457200" y="1771650"/>
            <a:chExt cx="11277600" cy="533400"/>
          </a:xfrm>
        </p:grpSpPr>
        <p:sp>
          <p:nvSpPr>
            <p:cNvPr id="6" name="Rectangle 6"/>
            <p:cNvSpPr/>
            <p:nvPr/>
          </p:nvSpPr>
          <p:spPr>
            <a:xfrm>
              <a:off x="457200" y="1771650"/>
              <a:ext cx="11277600" cy="533400"/>
            </a:xfrm>
            <a:prstGeom prst="roundRect">
              <a:avLst>
                <a:gd name="adj" fmla="val 21429"/>
              </a:avLst>
            </a:prstGeom>
            <a:solidFill>
              <a:srgbClr val="12376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58368" y="19113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比较维度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57806" y="1898650"/>
              <a:ext cx="27909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直接使用模型，不用 Skill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57594" y="1873250"/>
              <a:ext cx="26194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82BAFF"/>
                  </a:solidFill>
                  <a:latin typeface="Microsoft YaHei"/>
                  <a:ea typeface="Microsoft YaHei"/>
                  <a:cs typeface="Microsoft YaHei"/>
                </a:rPr>
                <a:t>模型 + Video Master</a:t>
              </a:r>
            </a:p>
          </p:txBody>
        </p:sp>
      </p:grpSp>
      <p:grpSp>
        <p:nvGrpSpPr>
          <p:cNvPr id="27" name="compare-control"/>
          <p:cNvGrpSpPr/>
          <p:nvPr/>
        </p:nvGrpSpPr>
        <p:grpSpPr>
          <a:xfrm>
            <a:off x="457200" y="2381250"/>
            <a:ext cx="11277600" cy="583692"/>
            <a:chOff x="457200" y="2381250"/>
            <a:chExt cx="11277600" cy="583692"/>
          </a:xfrm>
        </p:grpSpPr>
        <p:sp>
          <p:nvSpPr>
            <p:cNvPr id="11" name="Rectangle 11"/>
            <p:cNvSpPr/>
            <p:nvPr/>
          </p:nvSpPr>
          <p:spPr>
            <a:xfrm>
              <a:off x="457200" y="2381250"/>
              <a:ext cx="11277600" cy="581025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2462" y="2586038"/>
              <a:ext cx="171451" cy="171449"/>
              <a:chOff x="652462" y="2586038"/>
              <a:chExt cx="171451" cy="17144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2586038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52462" y="2607469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81050" y="2607469"/>
                <a:ext cx="428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9525">
                    <a:moveTo>
                      <a:pt x="0" y="0"/>
                    </a:moveTo>
                    <a:lnTo>
                      <a:pt x="42862" y="0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73894" y="265033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52462" y="2671762"/>
                <a:ext cx="2143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" h="9525">
                    <a:moveTo>
                      <a:pt x="0" y="0"/>
                    </a:moveTo>
                    <a:lnTo>
                      <a:pt x="21431" y="0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16756" y="2671762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0334" y="2714625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2462" y="2736056"/>
                <a:ext cx="11787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7872" h="9525">
                    <a:moveTo>
                      <a:pt x="0" y="0"/>
                    </a:moveTo>
                    <a:lnTo>
                      <a:pt x="117872" y="0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3197" y="2736056"/>
                <a:ext cx="1071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6" h="9525">
                    <a:moveTo>
                      <a:pt x="0" y="0"/>
                    </a:moveTo>
                    <a:lnTo>
                      <a:pt x="10716" y="0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973074" y="256222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可控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59330" y="256540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每轮临时约定结构与修改范围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38900" y="2381250"/>
              <a:ext cx="5295900" cy="581025"/>
            </a:xfrm>
            <a:prstGeom prst="roundRect">
              <a:avLst>
                <a:gd name="adj" fmla="val 13115"/>
              </a:avLst>
            </a:prstGeom>
            <a:solidFill>
              <a:srgbClr val="E2E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9118" y="24257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台本、素材、时间线独立管理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1023" y="2714625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改字幕、动作或音量，定位到对应部分</a:t>
              </a:r>
            </a:p>
          </p:txBody>
        </p:sp>
      </p:grpSp>
      <p:grpSp>
        <p:nvGrpSpPr>
          <p:cNvPr id="37" name="compare-visible"/>
          <p:cNvGrpSpPr/>
          <p:nvPr/>
        </p:nvGrpSpPr>
        <p:grpSpPr>
          <a:xfrm>
            <a:off x="457200" y="3000375"/>
            <a:ext cx="11277600" cy="583692"/>
            <a:chOff x="457200" y="3000375"/>
            <a:chExt cx="11277600" cy="583692"/>
          </a:xfrm>
        </p:grpSpPr>
        <p:sp>
          <p:nvSpPr>
            <p:cNvPr id="28" name="Rectangle 28"/>
            <p:cNvSpPr/>
            <p:nvPr/>
          </p:nvSpPr>
          <p:spPr>
            <a:xfrm>
              <a:off x="457200" y="3000375"/>
              <a:ext cx="11277600" cy="581025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41747" y="3226594"/>
              <a:ext cx="192881" cy="128588"/>
              <a:chOff x="641747" y="3226594"/>
              <a:chExt cx="192881" cy="1285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16756" y="3269456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1747" y="3226594"/>
                <a:ext cx="192881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92881" h="128588">
                    <a:moveTo>
                      <a:pt x="192881" y="64294"/>
                    </a:moveTo>
                    <a:cubicBezTo>
                      <a:pt x="167164" y="107156"/>
                      <a:pt x="135017" y="128588"/>
                      <a:pt x="96441" y="128588"/>
                    </a:cubicBezTo>
                    <a:cubicBezTo>
                      <a:pt x="57864" y="128588"/>
                      <a:pt x="25718" y="107156"/>
                      <a:pt x="0" y="64294"/>
                    </a:cubicBezTo>
                    <a:cubicBezTo>
                      <a:pt x="25718" y="21431"/>
                      <a:pt x="57864" y="0"/>
                      <a:pt x="96441" y="0"/>
                    </a:cubicBezTo>
                    <a:cubicBezTo>
                      <a:pt x="135017" y="0"/>
                      <a:pt x="167164" y="21431"/>
                      <a:pt x="192881" y="64294"/>
                    </a:cubicBez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73074" y="31813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过程可见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59330" y="3184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自行组织中间产物和审阅方式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38900" y="3000375"/>
              <a:ext cx="5295900" cy="581025"/>
            </a:xfrm>
            <a:prstGeom prst="roundRect">
              <a:avLst>
                <a:gd name="adj" fmla="val 13115"/>
              </a:avLst>
            </a:prstGeom>
            <a:solidFill>
              <a:srgbClr val="E2E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118" y="304482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台本、配音、画面分阶段可查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023" y="333375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预览中提交反馈，再处理局部修改</a:t>
              </a:r>
            </a:p>
          </p:txBody>
        </p:sp>
      </p:grpSp>
      <p:grpSp>
        <p:nvGrpSpPr>
          <p:cNvPr id="51" name="compare-tools"/>
          <p:cNvGrpSpPr/>
          <p:nvPr/>
        </p:nvGrpSpPr>
        <p:grpSpPr>
          <a:xfrm>
            <a:off x="457200" y="3619500"/>
            <a:ext cx="11277600" cy="583692"/>
            <a:chOff x="457200" y="3619500"/>
            <a:chExt cx="11277600" cy="583692"/>
          </a:xfrm>
        </p:grpSpPr>
        <p:sp>
          <p:nvSpPr>
            <p:cNvPr id="38" name="Rectangle 38"/>
            <p:cNvSpPr/>
            <p:nvPr/>
          </p:nvSpPr>
          <p:spPr>
            <a:xfrm>
              <a:off x="457200" y="3619500"/>
              <a:ext cx="11277600" cy="581025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1747" y="3812451"/>
              <a:ext cx="194002" cy="194002"/>
              <a:chOff x="641747" y="3812451"/>
              <a:chExt cx="194002" cy="19400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1747" y="3812451"/>
                <a:ext cx="194002" cy="194002"/>
              </a:xfrm>
              <a:custGeom>
                <a:avLst/>
                <a:gdLst/>
                <a:ahLst/>
                <a:cxnLst/>
                <a:rect l="l" t="t" r="r" b="b"/>
                <a:pathLst>
                  <a:path w="194002" h="194002">
                    <a:moveTo>
                      <a:pt x="0" y="194002"/>
                    </a:moveTo>
                    <a:lnTo>
                      <a:pt x="42862" y="194002"/>
                    </a:lnTo>
                    <a:lnTo>
                      <a:pt x="182166" y="54699"/>
                    </a:lnTo>
                    <a:cubicBezTo>
                      <a:pt x="194002" y="42862"/>
                      <a:pt x="194002" y="23672"/>
                      <a:pt x="182166" y="11836"/>
                    </a:cubicBezTo>
                    <a:cubicBezTo>
                      <a:pt x="170329" y="0"/>
                      <a:pt x="151139" y="0"/>
                      <a:pt x="139303" y="11836"/>
                    </a:cubicBezTo>
                    <a:lnTo>
                      <a:pt x="0" y="151139"/>
                    </a:lnTo>
                    <a:lnTo>
                      <a:pt x="0" y="194002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64977" y="384036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0"/>
                    </a:moveTo>
                    <a:lnTo>
                      <a:pt x="42862" y="42862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1747" y="3813572"/>
                <a:ext cx="96441" cy="96441"/>
              </a:xfrm>
              <a:custGeom>
                <a:avLst/>
                <a:gdLst/>
                <a:ahLst/>
                <a:cxnLst/>
                <a:rect l="l" t="t" r="r" b="b"/>
                <a:pathLst>
                  <a:path w="96441" h="96441">
                    <a:moveTo>
                      <a:pt x="96441" y="53578"/>
                    </a:moveTo>
                    <a:lnTo>
                      <a:pt x="42862" y="0"/>
                    </a:lnTo>
                    <a:lnTo>
                      <a:pt x="0" y="42862"/>
                    </a:lnTo>
                    <a:lnTo>
                      <a:pt x="53578" y="96441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8536" y="3867150"/>
                <a:ext cx="16073" cy="16073"/>
              </a:xfrm>
              <a:custGeom>
                <a:avLst/>
                <a:gdLst/>
                <a:ahLst/>
                <a:cxnLst/>
                <a:rect l="l" t="t" r="r" b="b"/>
                <a:pathLst>
                  <a:path w="16073" h="16073">
                    <a:moveTo>
                      <a:pt x="16073" y="0"/>
                    </a:moveTo>
                    <a:lnTo>
                      <a:pt x="0" y="16073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38188" y="3910012"/>
                <a:ext cx="96441" cy="96441"/>
              </a:xfrm>
              <a:custGeom>
                <a:avLst/>
                <a:gdLst/>
                <a:ahLst/>
                <a:cxnLst/>
                <a:rect l="l" t="t" r="r" b="b"/>
                <a:pathLst>
                  <a:path w="96441" h="96441">
                    <a:moveTo>
                      <a:pt x="42862" y="0"/>
                    </a:moveTo>
                    <a:lnTo>
                      <a:pt x="96441" y="53578"/>
                    </a:lnTo>
                    <a:lnTo>
                      <a:pt x="53578" y="96441"/>
                    </a:lnTo>
                    <a:lnTo>
                      <a:pt x="0" y="42862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64977" y="3963591"/>
                <a:ext cx="16073" cy="16073"/>
              </a:xfrm>
              <a:custGeom>
                <a:avLst/>
                <a:gdLst/>
                <a:ahLst/>
                <a:cxnLst/>
                <a:rect l="l" t="t" r="r" b="b"/>
                <a:pathLst>
                  <a:path w="16073" h="16073">
                    <a:moveTo>
                      <a:pt x="16073" y="0"/>
                    </a:moveTo>
                    <a:lnTo>
                      <a:pt x="0" y="16073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73074" y="38004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工具齐全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59330" y="38036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逐项选工具，编写并连接脚本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3619500"/>
              <a:ext cx="5295900" cy="581025"/>
            </a:xfrm>
            <a:prstGeom prst="roundRect">
              <a:avLst>
                <a:gd name="adj" fmla="val 13115"/>
              </a:avLst>
            </a:prstGeom>
            <a:solidFill>
              <a:srgbClr val="E2E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59118" y="366395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配音、混音、素材与导出工具配套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023" y="3952875"/>
              <a:ext cx="29943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Canvas 绘制，FFmpeg 合成，API 接入</a:t>
              </a:r>
            </a:p>
          </p:txBody>
        </p:sp>
      </p:grpSp>
      <p:grpSp>
        <p:nvGrpSpPr>
          <p:cNvPr id="61" name="compare-renderer"/>
          <p:cNvGrpSpPr/>
          <p:nvPr/>
        </p:nvGrpSpPr>
        <p:grpSpPr>
          <a:xfrm>
            <a:off x="457200" y="4238625"/>
            <a:ext cx="11277600" cy="583692"/>
            <a:chOff x="457200" y="4238625"/>
            <a:chExt cx="11277600" cy="583692"/>
          </a:xfrm>
        </p:grpSpPr>
        <p:sp>
          <p:nvSpPr>
            <p:cNvPr id="52" name="Rectangle 52"/>
            <p:cNvSpPr/>
            <p:nvPr/>
          </p:nvSpPr>
          <p:spPr>
            <a:xfrm>
              <a:off x="457200" y="4238625"/>
              <a:ext cx="11277600" cy="581025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462" y="4464844"/>
              <a:ext cx="171450" cy="128587"/>
              <a:chOff x="652462" y="4464844"/>
              <a:chExt cx="171450" cy="128587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2462" y="4464844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85725" y="0"/>
                    </a:moveTo>
                    <a:lnTo>
                      <a:pt x="0" y="42862"/>
                    </a:lnTo>
                    <a:lnTo>
                      <a:pt x="85725" y="85725"/>
                    </a:lnTo>
                    <a:lnTo>
                      <a:pt x="171450" y="42862"/>
                    </a:lnTo>
                    <a:lnTo>
                      <a:pt x="85725" y="0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462" y="4550569"/>
                <a:ext cx="1714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2862">
                    <a:moveTo>
                      <a:pt x="0" y="0"/>
                    </a:moveTo>
                    <a:lnTo>
                      <a:pt x="85725" y="42862"/>
                    </a:lnTo>
                    <a:lnTo>
                      <a:pt x="171450" y="0"/>
                    </a:lnTo>
                  </a:path>
                </a:pathLst>
              </a:custGeom>
              <a:noFill/>
              <a:ln w="21431">
                <a:solidFill>
                  <a:srgbClr val="287AF0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73074" y="44196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渲染积累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259330" y="44227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从头搭建渲染逻辑，再逐项排错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4238625"/>
              <a:ext cx="5295900" cy="581025"/>
            </a:xfrm>
            <a:prstGeom prst="roundRect">
              <a:avLst>
                <a:gd name="adj" fmla="val 13115"/>
              </a:avLst>
            </a:prstGeom>
            <a:solidFill>
              <a:srgbClr val="E2E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9118" y="428307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复用经过多轮迭代的渲染器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1023" y="4572000"/>
              <a:ext cx="27699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沉淀时间线、动作、转场和检查规则</a:t>
              </a:r>
            </a:p>
          </p:txBody>
        </p:sp>
      </p:grpSp>
      <p:grpSp>
        <p:nvGrpSpPr>
          <p:cNvPr id="69" name="compare-token"/>
          <p:cNvGrpSpPr/>
          <p:nvPr/>
        </p:nvGrpSpPr>
        <p:grpSpPr>
          <a:xfrm>
            <a:off x="457200" y="4857750"/>
            <a:ext cx="11277600" cy="583692"/>
            <a:chOff x="457200" y="4857750"/>
            <a:chExt cx="11277600" cy="583692"/>
          </a:xfrm>
        </p:grpSpPr>
        <p:sp>
          <p:nvSpPr>
            <p:cNvPr id="62" name="Rectangle 62"/>
            <p:cNvSpPr/>
            <p:nvPr/>
          </p:nvSpPr>
          <p:spPr>
            <a:xfrm>
              <a:off x="457200" y="4857750"/>
              <a:ext cx="11277600" cy="581025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663178" y="5051822"/>
              <a:ext cx="150019" cy="192881"/>
            </a:xfrm>
            <a:custGeom>
              <a:avLst/>
              <a:gdLst/>
              <a:ahLst/>
              <a:cxnLst/>
              <a:rect l="l" t="t" r="r" b="b"/>
              <a:pathLst>
                <a:path w="150019" h="192881">
                  <a:moveTo>
                    <a:pt x="85725" y="0"/>
                  </a:moveTo>
                  <a:lnTo>
                    <a:pt x="85725" y="75009"/>
                  </a:lnTo>
                  <a:lnTo>
                    <a:pt x="150019" y="75009"/>
                  </a:lnTo>
                  <a:lnTo>
                    <a:pt x="64294" y="192881"/>
                  </a:lnTo>
                  <a:lnTo>
                    <a:pt x="64294" y="117872"/>
                  </a:lnTo>
                  <a:lnTo>
                    <a:pt x="0" y="117872"/>
                  </a:lnTo>
                  <a:lnTo>
                    <a:pt x="85725" y="0"/>
                  </a:lnTo>
                </a:path>
              </a:pathLst>
            </a:custGeom>
            <a:noFill/>
            <a:ln w="21431">
              <a:solidFill>
                <a:srgbClr val="287AF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73074" y="5038725"/>
              <a:ext cx="113028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Token 开销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259330" y="50419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重复解释规则、生成基础代码与修错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38900" y="4857750"/>
              <a:ext cx="5295900" cy="581025"/>
            </a:xfrm>
            <a:prstGeom prst="roundRect">
              <a:avLst>
                <a:gd name="adj" fmla="val 13115"/>
              </a:avLst>
            </a:prstGeom>
            <a:solidFill>
              <a:srgbClr val="E2E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59118" y="49022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766"/>
                  </a:solidFill>
                  <a:latin typeface="Microsoft YaHei"/>
                  <a:ea typeface="Microsoft YaHei"/>
                  <a:cs typeface="Microsoft YaHei"/>
                </a:rPr>
                <a:t>按需读取指引，复用现有实现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61023" y="519112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把模型调用集中到创意与内容修改</a:t>
              </a:r>
            </a:p>
          </p:txBody>
        </p:sp>
      </p:grpSp>
      <p:grpSp>
        <p:nvGrpSpPr>
          <p:cNvPr id="72" name="token-outcome"/>
          <p:cNvGrpSpPr/>
          <p:nvPr/>
        </p:nvGrpSpPr>
        <p:grpSpPr>
          <a:xfrm>
            <a:off x="457200" y="5638800"/>
            <a:ext cx="5962650" cy="695325"/>
            <a:chOff x="457200" y="5638800"/>
            <a:chExt cx="5962650" cy="695325"/>
          </a:xfrm>
        </p:grpSpPr>
        <p:sp>
          <p:nvSpPr>
            <p:cNvPr id="70" name="Rectangle 70"/>
            <p:cNvSpPr/>
            <p:nvPr/>
          </p:nvSpPr>
          <p:spPr>
            <a:xfrm>
              <a:off x="457200" y="5638800"/>
              <a:ext cx="5962650" cy="695325"/>
            </a:xfrm>
            <a:prstGeom prst="roundRect">
              <a:avLst>
                <a:gd name="adj" fmla="val 16438"/>
              </a:avLst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5513" y="5826125"/>
              <a:ext cx="425111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减少重复生成和修复的 Token 开销</a:t>
              </a:r>
            </a:p>
          </p:txBody>
        </p:sp>
      </p:grpSp>
      <p:grpSp>
        <p:nvGrpSpPr>
          <p:cNvPr id="75" name="quality-outcome"/>
          <p:cNvGrpSpPr/>
          <p:nvPr/>
        </p:nvGrpSpPr>
        <p:grpSpPr>
          <a:xfrm>
            <a:off x="6591300" y="5638800"/>
            <a:ext cx="5143500" cy="695325"/>
            <a:chOff x="6591300" y="5638800"/>
            <a:chExt cx="5143500" cy="695325"/>
          </a:xfrm>
        </p:grpSpPr>
        <p:sp>
          <p:nvSpPr>
            <p:cNvPr id="73" name="Rectangle 73"/>
            <p:cNvSpPr/>
            <p:nvPr/>
          </p:nvSpPr>
          <p:spPr>
            <a:xfrm>
              <a:off x="6591300" y="5638800"/>
              <a:ext cx="5143500" cy="695325"/>
            </a:xfrm>
            <a:prstGeom prst="roundRect">
              <a:avLst>
                <a:gd name="adj" fmla="val 16438"/>
              </a:avLst>
            </a:prstGeom>
            <a:solidFill>
              <a:srgbClr val="12376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28663" y="5826125"/>
              <a:ext cx="409956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复用已验证的实现，提升成片质量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451104" y="6505575"/>
              <a:ext cx="49211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比较工作方式；实际收益取决于任务，未承诺固定 Token 节省比例。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87532" y="65055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04 / 15</a:t>
              </a:r>
            </a:p>
          </p:txBody>
        </p:sp>
      </p:grpSp>
    </p:spTree>
  </p:cSld>
  <p:clrMapOvr>
    <a:masterClrMapping/>
  </p:clrMapOvr>
  <p:transition p14:dur="850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4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900"/>
                            </p:stCondLst>
                            <p:childTnLst>
                              <p:par>
                                <p:cTn id="34" presetID="37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95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" accel="100000" fill="hold">
                                          <p:stCondLst>
                                            <p:cond delay="495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750"/>
                            </p:stCondLst>
                            <p:childTnLst>
                              <p:par>
                                <p:cTn id="47" presetID="6" presetClass="emph" presetSubtype="0" fill="hold" grpId="0" nodeType="afterEffect" autoRev="1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48" dur="400" fill="hold"/>
                                        <p:tgtEl>
                                          <p:spTgt spid="72"/>
                                        </p:tgtEl>
                                      </p:cBhvr>
                                      <p:by x="150000" y="150000"/>
                                      <p:to x="103000" y="10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gradFill>
          <a:gsLst>
            <a:gs pos="0">
              <a:srgbClr val="09213F"/>
            </a:gs>
            <a:gs pos="100000">
              <a:srgbClr val="164C8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6252972" cy="988314"/>
            <a:chOff x="440436" y="374650"/>
            <a:chExt cx="6252972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2BAFF"/>
                  </a:solidFill>
                  <a:latin typeface="+mn-lt"/>
                  <a:ea typeface="+mn-ea"/>
                  <a:cs typeface="+mn-cs"/>
                </a:rPr>
                <a:t>特别放映 / 完整案例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先看完整作品，再拆解制作方法</a:t>
              </a:r>
            </a:p>
          </p:txBody>
        </p:sp>
      </p:grpSp>
      <p:grpSp>
        <p:nvGrpSpPr>
          <p:cNvPr id="7" name="opening-label"/>
          <p:cNvGrpSpPr/>
          <p:nvPr/>
        </p:nvGrpSpPr>
        <p:grpSpPr>
          <a:xfrm>
            <a:off x="447294" y="1758950"/>
            <a:ext cx="5427726" cy="381381"/>
            <a:chOff x="447294" y="1758950"/>
            <a:chExt cx="5427726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447294" y="1758950"/>
              <a:ext cx="1455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开场作品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35208" y="1822450"/>
              <a:ext cx="1539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A7D2FF"/>
                  </a:solidFill>
                  <a:latin typeface="+mn-lt"/>
                  <a:ea typeface="+mn-ea"/>
                  <a:cs typeface="+mn-cs"/>
                </a:rPr>
                <a:t>30 秒 · 原声播放</a:t>
              </a:r>
            </a:p>
          </p:txBody>
        </p:sp>
      </p:grpSp>
      <p:grpSp>
        <p:nvGrpSpPr>
          <p:cNvPr id="10" name="case-label"/>
          <p:cNvGrpSpPr/>
          <p:nvPr/>
        </p:nvGrpSpPr>
        <p:grpSpPr>
          <a:xfrm>
            <a:off x="6314694" y="1758950"/>
            <a:ext cx="5427727" cy="381381"/>
            <a:chOff x="6314694" y="1758950"/>
            <a:chExt cx="5427727" cy="381381"/>
          </a:xfrm>
        </p:grpSpPr>
        <p:sp>
          <p:nvSpPr>
            <p:cNvPr id="8" name="TextBox 8"/>
            <p:cNvSpPr txBox="1"/>
            <p:nvPr/>
          </p:nvSpPr>
          <p:spPr>
            <a:xfrm>
              <a:off x="6314694" y="1758950"/>
              <a:ext cx="19807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产品报告成片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02609" y="1822450"/>
              <a:ext cx="1539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A7D2FF"/>
                  </a:solidFill>
                  <a:latin typeface="+mn-lt"/>
                  <a:ea typeface="+mn-ea"/>
                  <a:cs typeface="+mn-cs"/>
                </a:rPr>
                <a:t>16 秒 · 原声播放</a:t>
              </a:r>
            </a:p>
          </p:txBody>
        </p:sp>
      </p:grpSp>
      <p:grpSp>
        <p:nvGrpSpPr>
          <p:cNvPr id="13" name="opening-screen"/>
          <p:cNvGrpSpPr/>
          <p:nvPr/>
        </p:nvGrpSpPr>
        <p:grpSpPr>
          <a:xfrm>
            <a:off x="457200" y="2305050"/>
            <a:ext cx="5410200" cy="3143250"/>
            <a:chOff x="457200" y="2305050"/>
            <a:chExt cx="5410200" cy="3143250"/>
          </a:xfrm>
        </p:grpSpPr>
        <p:sp>
          <p:nvSpPr>
            <p:cNvPr id="11" name="Rectangle 11"/>
            <p:cNvSpPr/>
            <p:nvPr/>
          </p:nvSpPr>
          <p:spPr>
            <a:xfrm>
              <a:off x="457200" y="2305050"/>
              <a:ext cx="5410200" cy="3143250"/>
            </a:xfrm>
            <a:prstGeom prst="roundRect">
              <a:avLst>
                <a:gd name="adj" fmla="val 5455"/>
              </a:avLst>
            </a:prstGeom>
            <a:solidFill>
              <a:srgbClr val="31577E"/>
            </a:solidFill>
            <a:ln>
              <a:noFill/>
            </a:ln>
          </p:spPr>
        </p:sp>
        <p:pic>
          <p:nvPicPr>
            <p:cNvPr id="12" name="opening-poster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500" y="2419350"/>
              <a:ext cx="5181600" cy="2914650"/>
            </a:xfrm>
            <a:prstGeom prst="rect">
              <a:avLst/>
            </a:prstGeom>
          </p:spPr>
        </p:pic>
      </p:grpSp>
      <p:grpSp>
        <p:nvGrpSpPr>
          <p:cNvPr id="16" name="case-screen"/>
          <p:cNvGrpSpPr/>
          <p:nvPr/>
        </p:nvGrpSpPr>
        <p:grpSpPr>
          <a:xfrm>
            <a:off x="6324600" y="2305050"/>
            <a:ext cx="5410200" cy="3143250"/>
            <a:chOff x="6324600" y="2305050"/>
            <a:chExt cx="54102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6324600" y="2305050"/>
              <a:ext cx="5410200" cy="3143250"/>
            </a:xfrm>
            <a:prstGeom prst="roundRect">
              <a:avLst>
                <a:gd name="adj" fmla="val 5455"/>
              </a:avLst>
            </a:prstGeom>
            <a:solidFill>
              <a:srgbClr val="31577E"/>
            </a:solidFill>
            <a:ln>
              <a:noFill/>
            </a:ln>
          </p:spPr>
        </p:sp>
        <p:pic>
          <p:nvPicPr>
            <p:cNvPr id="15" name="case-poster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38900" y="2419350"/>
              <a:ext cx="5181600" cy="2914650"/>
            </a:xfrm>
            <a:prstGeom prst="rect">
              <a:avLst/>
            </a:prstGeom>
          </p:spPr>
        </p:pic>
      </p:grpSp>
      <p:grpSp>
        <p:nvGrpSpPr>
          <p:cNvPr id="20" name="opening-caption"/>
          <p:cNvGrpSpPr/>
          <p:nvPr/>
        </p:nvGrpSpPr>
        <p:grpSpPr>
          <a:xfrm>
            <a:off x="546100" y="5711825"/>
            <a:ext cx="2331974" cy="599821"/>
            <a:chOff x="546100" y="5711825"/>
            <a:chExt cx="2331974" cy="599821"/>
          </a:xfrm>
        </p:grpSpPr>
        <p:sp>
          <p:nvSpPr>
            <p:cNvPr id="17" name="Freeform 17"/>
            <p:cNvSpPr/>
            <p:nvPr/>
          </p:nvSpPr>
          <p:spPr>
            <a:xfrm>
              <a:off x="546100" y="5765800"/>
              <a:ext cx="165100" cy="203199"/>
            </a:xfrm>
            <a:custGeom>
              <a:avLst/>
              <a:gdLst/>
              <a:ahLst/>
              <a:cxnLst/>
              <a:rect l="l" t="t" r="r" b="b"/>
              <a:pathLst>
                <a:path w="165100" h="203199">
                  <a:moveTo>
                    <a:pt x="0" y="0"/>
                  </a:moveTo>
                  <a:lnTo>
                    <a:pt x="0" y="203199"/>
                  </a:lnTo>
                  <a:lnTo>
                    <a:pt x="165100" y="10160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82BAF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3544" y="57118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点击画面播放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354" y="60769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7D2FF"/>
                  </a:solidFill>
                  <a:latin typeface="+mn-lt"/>
                  <a:ea typeface="+mn-ea"/>
                  <a:cs typeface="+mn-cs"/>
                </a:rPr>
                <a:t>观看图形运动、节奏与转场</a:t>
              </a:r>
            </a:p>
          </p:txBody>
        </p:sp>
      </p:grpSp>
      <p:grpSp>
        <p:nvGrpSpPr>
          <p:cNvPr id="24" name="case-caption"/>
          <p:cNvGrpSpPr/>
          <p:nvPr/>
        </p:nvGrpSpPr>
        <p:grpSpPr>
          <a:xfrm>
            <a:off x="6413500" y="5711825"/>
            <a:ext cx="3402919" cy="599821"/>
            <a:chOff x="6413500" y="5711825"/>
            <a:chExt cx="3402919" cy="599821"/>
          </a:xfrm>
        </p:grpSpPr>
        <p:sp>
          <p:nvSpPr>
            <p:cNvPr id="21" name="Freeform 21"/>
            <p:cNvSpPr/>
            <p:nvPr/>
          </p:nvSpPr>
          <p:spPr>
            <a:xfrm>
              <a:off x="6413500" y="5765800"/>
              <a:ext cx="165100" cy="203199"/>
            </a:xfrm>
            <a:custGeom>
              <a:avLst/>
              <a:gdLst/>
              <a:ahLst/>
              <a:cxnLst/>
              <a:rect l="l" t="t" r="r" b="b"/>
              <a:pathLst>
                <a:path w="165100" h="203199">
                  <a:moveTo>
                    <a:pt x="0" y="0"/>
                  </a:moveTo>
                  <a:lnTo>
                    <a:pt x="0" y="203199"/>
                  </a:lnTo>
                  <a:lnTo>
                    <a:pt x="165100" y="10160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82BA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0944" y="57118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点击画面播放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4754" y="6076950"/>
              <a:ext cx="3021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7D2FF"/>
                  </a:solidFill>
                  <a:latin typeface="+mn-lt"/>
                  <a:ea typeface="+mn-ea"/>
                  <a:cs typeface="+mn-cs"/>
                </a:rPr>
                <a:t>展示 Skill 的成片效果，不是操作流程录屏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451104" y="6505575"/>
              <a:ext cx="4109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7D2FF"/>
                  </a:solidFill>
                  <a:latin typeface="+mn-lt"/>
                  <a:ea typeface="+mn-ea"/>
                  <a:cs typeface="+mn-cs"/>
                </a:rPr>
                <a:t>PPT 内嵌视频 · 两段分别点击播放 · 播放结束后继续翻页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A7D2FF"/>
                  </a:solidFill>
                  <a:latin typeface="Microsoft YaHei"/>
                  <a:ea typeface="Microsoft YaHei"/>
                  <a:cs typeface="Microsoft YaHei"/>
                </a:rPr>
                <a:t>05 / 15</a:t>
              </a:r>
            </a:p>
          </p:txBody>
        </p:sp>
      </p:grpSp>
      <p:pic>
        <p:nvPicPr>
          <p:cNvPr id="28" name="opening-video-30s">
            <a:hlinkClick r:id="" action="ppaction://media"/>
            <a:extLst>
              <a:ext uri="{FF2B5EF4-FFF2-40B4-BE49-F238E27FC236}">
                <ns3:creationId id="{0562220B-115C-FB6E-DF59-D0715E75BE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1500" y="2419350"/>
            <a:ext cx="5181600" cy="2914650"/>
          </a:xfrm>
          <a:prstGeom prst="rect">
            <a:avLst/>
          </a:prstGeom>
        </p:spPr>
      </p:pic>
      <p:pic>
        <p:nvPicPr>
          <p:cNvPr id="29" name="product-report-video-16s">
            <a:hlinkClick r:id="" action="ppaction://media"/>
            <a:extLst>
              <a:ext uri="{FF2B5EF4-FFF2-40B4-BE49-F238E27FC236}">
                <ns3:creationId id="{A73732E7-8FC5-7CC3-3C33-71F6257675E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438900" y="2419350"/>
            <a:ext cx="5181600" cy="2914650"/>
          </a:xfrm>
          <a:prstGeom prst="rect">
            <a:avLst/>
          </a:prstGeom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1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video>
              <p:cMediaNode vol="80000">
                <p:cTn id="23" fill="remove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7141464" cy="988314"/>
            <a:chOff x="440436" y="374650"/>
            <a:chExt cx="7141464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03 / 核心解法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用代码组织视频制作，让修改有落点</a:t>
              </a:r>
            </a:p>
          </p:txBody>
        </p:sp>
      </p:grpSp>
      <p:grpSp>
        <p:nvGrpSpPr>
          <p:cNvPr id="6" name="flow-label"/>
          <p:cNvGrpSpPr/>
          <p:nvPr/>
        </p:nvGrpSpPr>
        <p:grpSpPr>
          <a:xfrm>
            <a:off x="449580" y="1717675"/>
            <a:ext cx="4927397" cy="293370"/>
            <a:chOff x="449580" y="1717675"/>
            <a:chExt cx="4927397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449580" y="1717675"/>
              <a:ext cx="49273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你决定目标与审美，Skill 组织流程，智能体完成工程。</a:t>
              </a:r>
            </a:p>
          </p:txBody>
        </p:sp>
      </p:grpSp>
      <p:grpSp>
        <p:nvGrpSpPr>
          <p:cNvPr id="17" name="step-brief"/>
          <p:cNvGrpSpPr/>
          <p:nvPr/>
        </p:nvGrpSpPr>
        <p:grpSpPr>
          <a:xfrm>
            <a:off x="457200" y="2228850"/>
            <a:ext cx="2667000" cy="1581150"/>
            <a:chOff x="457200" y="2228850"/>
            <a:chExt cx="2667000" cy="1581150"/>
          </a:xfrm>
        </p:grpSpPr>
        <p:sp>
          <p:nvSpPr>
            <p:cNvPr id="7" name="Rectangle 7"/>
            <p:cNvSpPr/>
            <p:nvPr/>
          </p:nvSpPr>
          <p:spPr>
            <a:xfrm>
              <a:off x="457200" y="2228850"/>
              <a:ext cx="2667000" cy="1581150"/>
            </a:xfrm>
            <a:prstGeom prst="roundRect">
              <a:avLst>
                <a:gd name="adj" fmla="val 12048"/>
              </a:avLst>
            </a:prstGeom>
            <a:solidFill>
              <a:srgbClr val="287AF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1044" y="2493169"/>
              <a:ext cx="271462" cy="271462"/>
              <a:chOff x="731044" y="2493169"/>
              <a:chExt cx="271462" cy="27146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1044" y="2628900"/>
                <a:ext cx="452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9525">
                    <a:moveTo>
                      <a:pt x="0" y="0"/>
                    </a:moveTo>
                    <a:lnTo>
                      <a:pt x="45244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6775" y="2493169"/>
                <a:ext cx="9525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244">
                    <a:moveTo>
                      <a:pt x="0" y="0"/>
                    </a:moveTo>
                    <a:lnTo>
                      <a:pt x="0" y="45244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70255" y="2532380"/>
                <a:ext cx="33179" cy="33179"/>
              </a:xfrm>
              <a:custGeom>
                <a:avLst/>
                <a:gdLst/>
                <a:ahLst/>
                <a:cxnLst/>
                <a:rect l="l" t="t" r="r" b="b"/>
                <a:pathLst>
                  <a:path w="33179" h="33179">
                    <a:moveTo>
                      <a:pt x="33179" y="33179"/>
                    </a:moveTo>
                    <a:lnTo>
                      <a:pt x="0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30116" y="2532380"/>
                <a:ext cx="33179" cy="33179"/>
              </a:xfrm>
              <a:custGeom>
                <a:avLst/>
                <a:gdLst/>
                <a:ahLst/>
                <a:cxnLst/>
                <a:rect l="l" t="t" r="r" b="b"/>
                <a:pathLst>
                  <a:path w="33179" h="33179">
                    <a:moveTo>
                      <a:pt x="0" y="33179"/>
                    </a:moveTo>
                    <a:lnTo>
                      <a:pt x="33179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0255" y="2692241"/>
                <a:ext cx="33179" cy="33179"/>
              </a:xfrm>
              <a:custGeom>
                <a:avLst/>
                <a:gdLst/>
                <a:ahLst/>
                <a:cxnLst/>
                <a:rect l="l" t="t" r="r" b="b"/>
                <a:pathLst>
                  <a:path w="33179" h="33179">
                    <a:moveTo>
                      <a:pt x="33179" y="0"/>
                    </a:moveTo>
                    <a:lnTo>
                      <a:pt x="0" y="33179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66775" y="2628900"/>
                <a:ext cx="135731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135731" h="135731">
                    <a:moveTo>
                      <a:pt x="0" y="0"/>
                    </a:moveTo>
                    <a:lnTo>
                      <a:pt x="135731" y="45244"/>
                    </a:lnTo>
                    <a:lnTo>
                      <a:pt x="75406" y="75406"/>
                    </a:lnTo>
                    <a:lnTo>
                      <a:pt x="45244" y="135731"/>
                    </a:lnTo>
                    <a:lnTo>
                      <a:pt x="0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5894" y="2968625"/>
              <a:ext cx="1455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描述需求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180" y="34131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8E9FF"/>
                  </a:solidFill>
                  <a:latin typeface="+mn-lt"/>
                  <a:ea typeface="+mn-ea"/>
                  <a:cs typeface="+mn-cs"/>
                </a:rPr>
                <a:t>主题 · 时长 · 素材</a:t>
              </a:r>
            </a:p>
          </p:txBody>
        </p:sp>
      </p:grpSp>
      <p:grpSp>
        <p:nvGrpSpPr>
          <p:cNvPr id="22" name="step-skill"/>
          <p:cNvGrpSpPr/>
          <p:nvPr/>
        </p:nvGrpSpPr>
        <p:grpSpPr>
          <a:xfrm>
            <a:off x="3333750" y="2228850"/>
            <a:ext cx="2667000" cy="1581150"/>
            <a:chOff x="3333750" y="2228850"/>
            <a:chExt cx="2667000" cy="1581150"/>
          </a:xfrm>
        </p:grpSpPr>
        <p:sp>
          <p:nvSpPr>
            <p:cNvPr id="18" name="Rectangle 18"/>
            <p:cNvSpPr/>
            <p:nvPr/>
          </p:nvSpPr>
          <p:spPr>
            <a:xfrm>
              <a:off x="3333750" y="2228850"/>
              <a:ext cx="2667000" cy="1581150"/>
            </a:xfrm>
            <a:prstGeom prst="roundRect">
              <a:avLst>
                <a:gd name="adj" fmla="val 12048"/>
              </a:avLst>
            </a:prstGeom>
            <a:solidFill>
              <a:srgbClr val="2266C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607594" y="2508250"/>
              <a:ext cx="271462" cy="226218"/>
            </a:xfrm>
            <a:custGeom>
              <a:avLst/>
              <a:gdLst/>
              <a:ahLst/>
              <a:cxnLst/>
              <a:rect l="l" t="t" r="r" b="b"/>
              <a:pathLst>
                <a:path w="271462" h="226218">
                  <a:moveTo>
                    <a:pt x="30162" y="0"/>
                  </a:moveTo>
                  <a:lnTo>
                    <a:pt x="90487" y="0"/>
                  </a:lnTo>
                  <a:lnTo>
                    <a:pt x="135731" y="45244"/>
                  </a:lnTo>
                  <a:lnTo>
                    <a:pt x="241299" y="45244"/>
                  </a:lnTo>
                  <a:cubicBezTo>
                    <a:pt x="257958" y="45244"/>
                    <a:pt x="271462" y="58748"/>
                    <a:pt x="271462" y="75406"/>
                  </a:cubicBezTo>
                  <a:lnTo>
                    <a:pt x="271462" y="196056"/>
                  </a:lnTo>
                  <a:cubicBezTo>
                    <a:pt x="271462" y="212714"/>
                    <a:pt x="257958" y="226218"/>
                    <a:pt x="241299" y="226218"/>
                  </a:cubicBezTo>
                  <a:lnTo>
                    <a:pt x="30162" y="226218"/>
                  </a:lnTo>
                  <a:cubicBezTo>
                    <a:pt x="13504" y="226218"/>
                    <a:pt x="0" y="212714"/>
                    <a:pt x="0" y="196056"/>
                  </a:cubicBezTo>
                  <a:lnTo>
                    <a:pt x="0" y="30162"/>
                  </a:lnTo>
                  <a:cubicBezTo>
                    <a:pt x="0" y="13504"/>
                    <a:pt x="13504" y="0"/>
                    <a:pt x="30162" y="0"/>
                  </a:cubicBezTo>
                </a:path>
              </a:pathLst>
            </a:custGeom>
            <a:noFill/>
            <a:ln w="30162">
              <a:solidFill>
                <a:srgbClr val="FFFF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52444" y="2968625"/>
              <a:ext cx="15762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Skill 编排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4730" y="3413125"/>
              <a:ext cx="189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8E9FF"/>
                  </a:solidFill>
                  <a:latin typeface="+mn-lt"/>
                  <a:ea typeface="+mn-ea"/>
                  <a:cs typeface="+mn-cs"/>
                </a:rPr>
                <a:t>方案 · 台本 · 检查点</a:t>
              </a:r>
            </a:p>
          </p:txBody>
        </p:sp>
      </p:grpSp>
      <p:grpSp>
        <p:nvGrpSpPr>
          <p:cNvPr id="30" name="step-agent"/>
          <p:cNvGrpSpPr/>
          <p:nvPr/>
        </p:nvGrpSpPr>
        <p:grpSpPr>
          <a:xfrm>
            <a:off x="6210300" y="2228850"/>
            <a:ext cx="2667000" cy="1581150"/>
            <a:chOff x="6210300" y="2228850"/>
            <a:chExt cx="2667000" cy="1581150"/>
          </a:xfrm>
        </p:grpSpPr>
        <p:sp>
          <p:nvSpPr>
            <p:cNvPr id="23" name="Rectangle 23"/>
            <p:cNvSpPr/>
            <p:nvPr/>
          </p:nvSpPr>
          <p:spPr>
            <a:xfrm>
              <a:off x="6210300" y="2228850"/>
              <a:ext cx="2667000" cy="1581150"/>
            </a:xfrm>
            <a:prstGeom prst="roundRect">
              <a:avLst>
                <a:gd name="adj" fmla="val 12048"/>
              </a:avLst>
            </a:prstGeom>
            <a:solidFill>
              <a:srgbClr val="194F9E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84144" y="2508250"/>
              <a:ext cx="271462" cy="241299"/>
              <a:chOff x="6484144" y="2508250"/>
              <a:chExt cx="271462" cy="24129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484144" y="2568575"/>
                <a:ext cx="603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20650">
                    <a:moveTo>
                      <a:pt x="60325" y="0"/>
                    </a:moveTo>
                    <a:lnTo>
                      <a:pt x="0" y="60325"/>
                    </a:lnTo>
                    <a:lnTo>
                      <a:pt x="60325" y="12065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95281" y="2568575"/>
                <a:ext cx="603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20650">
                    <a:moveTo>
                      <a:pt x="0" y="0"/>
                    </a:moveTo>
                    <a:lnTo>
                      <a:pt x="60325" y="60325"/>
                    </a:lnTo>
                    <a:lnTo>
                      <a:pt x="0" y="12065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89712" y="2508250"/>
                <a:ext cx="6032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241299">
                    <a:moveTo>
                      <a:pt x="60325" y="0"/>
                    </a:moveTo>
                    <a:lnTo>
                      <a:pt x="0" y="241299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994" y="2968625"/>
              <a:ext cx="17182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智能体执行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1280" y="341312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8E9FF"/>
                  </a:solidFill>
                  <a:latin typeface="+mn-lt"/>
                  <a:ea typeface="+mn-ea"/>
                  <a:cs typeface="+mn-cs"/>
                </a:rPr>
                <a:t>写代码 · 处理素材</a:t>
              </a:r>
            </a:p>
          </p:txBody>
        </p:sp>
      </p:grpSp>
      <p:grpSp>
        <p:nvGrpSpPr>
          <p:cNvPr id="43" name="step-render"/>
          <p:cNvGrpSpPr/>
          <p:nvPr/>
        </p:nvGrpSpPr>
        <p:grpSpPr>
          <a:xfrm>
            <a:off x="9086850" y="2228850"/>
            <a:ext cx="2647950" cy="1581150"/>
            <a:chOff x="9086850" y="2228850"/>
            <a:chExt cx="2647950" cy="1581150"/>
          </a:xfrm>
        </p:grpSpPr>
        <p:sp>
          <p:nvSpPr>
            <p:cNvPr id="31" name="Rectangle 31"/>
            <p:cNvSpPr/>
            <p:nvPr/>
          </p:nvSpPr>
          <p:spPr>
            <a:xfrm>
              <a:off x="9086850" y="2228850"/>
              <a:ext cx="2647950" cy="1581150"/>
            </a:xfrm>
            <a:prstGeom prst="roundRect">
              <a:avLst>
                <a:gd name="adj" fmla="val 12048"/>
              </a:avLst>
            </a:prstGeom>
            <a:solidFill>
              <a:srgbClr val="12376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9375775" y="2508250"/>
              <a:ext cx="241299" cy="241299"/>
              <a:chOff x="9375775" y="2508250"/>
              <a:chExt cx="241299" cy="24129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375775" y="2508250"/>
                <a:ext cx="241299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41299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211137" y="0"/>
                    </a:lnTo>
                    <a:cubicBezTo>
                      <a:pt x="227795" y="0"/>
                      <a:pt x="241299" y="13504"/>
                      <a:pt x="241299" y="30162"/>
                    </a:cubicBezTo>
                    <a:lnTo>
                      <a:pt x="241299" y="211137"/>
                    </a:lnTo>
                    <a:cubicBezTo>
                      <a:pt x="241299" y="227795"/>
                      <a:pt x="227795" y="241299"/>
                      <a:pt x="211137" y="241299"/>
                    </a:cubicBez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436100" y="2508250"/>
                <a:ext cx="952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1299">
                    <a:moveTo>
                      <a:pt x="0" y="0"/>
                    </a:moveTo>
                    <a:lnTo>
                      <a:pt x="0" y="241299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556749" y="2508250"/>
                <a:ext cx="952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1299">
                    <a:moveTo>
                      <a:pt x="0" y="0"/>
                    </a:moveTo>
                    <a:lnTo>
                      <a:pt x="0" y="241299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375775" y="2568575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375775" y="2689224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375775" y="2628900"/>
                <a:ext cx="2412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525">
                    <a:moveTo>
                      <a:pt x="0" y="0"/>
                    </a:moveTo>
                    <a:lnTo>
                      <a:pt x="241299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556749" y="2568575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556749" y="2689224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305544" y="2968625"/>
              <a:ext cx="17182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 渲染与交付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07830" y="34131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8E9FF"/>
                  </a:solidFill>
                  <a:latin typeface="+mn-lt"/>
                  <a:ea typeface="+mn-ea"/>
                  <a:cs typeface="+mn-cs"/>
                </a:rPr>
                <a:t>预览 · 修改 · 导出</a:t>
              </a:r>
            </a:p>
          </p:txBody>
        </p:sp>
      </p:grpSp>
      <p:grpSp>
        <p:nvGrpSpPr>
          <p:cNvPr id="48" name="flow-one"/>
          <p:cNvGrpSpPr/>
          <p:nvPr/>
        </p:nvGrpSpPr>
        <p:grpSpPr>
          <a:xfrm>
            <a:off x="3167856" y="2976563"/>
            <a:ext cx="122238" cy="104775"/>
            <a:chOff x="3167856" y="2976563"/>
            <a:chExt cx="122238" cy="104775"/>
          </a:xfrm>
        </p:grpSpPr>
        <p:grpSp>
          <p:nvGrpSpPr>
            <p:cNvPr id="47" name="Group 47"/>
            <p:cNvGrpSpPr/>
            <p:nvPr/>
          </p:nvGrpSpPr>
          <p:grpSpPr>
            <a:xfrm>
              <a:off x="3167856" y="2976563"/>
              <a:ext cx="122238" cy="104775"/>
              <a:chOff x="3167856" y="2976563"/>
              <a:chExt cx="122238" cy="1047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3167856" y="3028950"/>
                <a:ext cx="1222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9525">
                    <a:moveTo>
                      <a:pt x="0" y="0"/>
                    </a:moveTo>
                    <a:lnTo>
                      <a:pt x="122238" y="0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3237706" y="3028950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3237706" y="2976563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0"/>
                    </a:moveTo>
                    <a:lnTo>
                      <a:pt x="52388" y="52388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</p:grpSp>
      </p:grpSp>
      <p:grpSp>
        <p:nvGrpSpPr>
          <p:cNvPr id="53" name="flow-two"/>
          <p:cNvGrpSpPr/>
          <p:nvPr/>
        </p:nvGrpSpPr>
        <p:grpSpPr>
          <a:xfrm>
            <a:off x="6044406" y="2976563"/>
            <a:ext cx="122238" cy="104775"/>
            <a:chOff x="6044406" y="2976563"/>
            <a:chExt cx="122238" cy="104775"/>
          </a:xfrm>
        </p:grpSpPr>
        <p:grpSp>
          <p:nvGrpSpPr>
            <p:cNvPr id="52" name="Group 52"/>
            <p:cNvGrpSpPr/>
            <p:nvPr/>
          </p:nvGrpSpPr>
          <p:grpSpPr>
            <a:xfrm>
              <a:off x="6044406" y="2976563"/>
              <a:ext cx="122238" cy="104775"/>
              <a:chOff x="6044406" y="2976563"/>
              <a:chExt cx="122238" cy="10477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044406" y="3028950"/>
                <a:ext cx="1222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9525">
                    <a:moveTo>
                      <a:pt x="0" y="0"/>
                    </a:moveTo>
                    <a:lnTo>
                      <a:pt x="122238" y="0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114256" y="3028950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114256" y="2976563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0"/>
                    </a:moveTo>
                    <a:lnTo>
                      <a:pt x="52388" y="52388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</p:grpSp>
      </p:grpSp>
      <p:grpSp>
        <p:nvGrpSpPr>
          <p:cNvPr id="58" name="flow-three"/>
          <p:cNvGrpSpPr/>
          <p:nvPr/>
        </p:nvGrpSpPr>
        <p:grpSpPr>
          <a:xfrm>
            <a:off x="8920956" y="2976563"/>
            <a:ext cx="122238" cy="104775"/>
            <a:chOff x="8920956" y="2976563"/>
            <a:chExt cx="122238" cy="104775"/>
          </a:xfrm>
        </p:grpSpPr>
        <p:grpSp>
          <p:nvGrpSpPr>
            <p:cNvPr id="57" name="Group 57"/>
            <p:cNvGrpSpPr/>
            <p:nvPr/>
          </p:nvGrpSpPr>
          <p:grpSpPr>
            <a:xfrm>
              <a:off x="8920956" y="2976563"/>
              <a:ext cx="122238" cy="104775"/>
              <a:chOff x="8920956" y="2976563"/>
              <a:chExt cx="122238" cy="10477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920956" y="3028950"/>
                <a:ext cx="1222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9525">
                    <a:moveTo>
                      <a:pt x="0" y="0"/>
                    </a:moveTo>
                    <a:lnTo>
                      <a:pt x="122238" y="0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990806" y="3028950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990806" y="2976563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0"/>
                    </a:moveTo>
                    <a:lnTo>
                      <a:pt x="52388" y="52388"/>
                    </a:lnTo>
                  </a:path>
                </a:pathLst>
              </a:custGeom>
              <a:noFill/>
              <a:ln w="17463">
                <a:solidFill>
                  <a:srgbClr val="123766"/>
                </a:solidFill>
              </a:ln>
            </p:spPr>
          </p:sp>
        </p:grpSp>
      </p:grpSp>
      <p:grpSp>
        <p:nvGrpSpPr>
          <p:cNvPr id="63" name="deliverable-film"/>
          <p:cNvGrpSpPr/>
          <p:nvPr/>
        </p:nvGrpSpPr>
        <p:grpSpPr>
          <a:xfrm>
            <a:off x="457200" y="4305300"/>
            <a:ext cx="5391150" cy="1638300"/>
            <a:chOff x="457200" y="4305300"/>
            <a:chExt cx="5391150" cy="1638300"/>
          </a:xfrm>
        </p:grpSpPr>
        <p:sp>
          <p:nvSpPr>
            <p:cNvPr id="59" name="Rectangle 59"/>
            <p:cNvSpPr/>
            <p:nvPr/>
          </p:nvSpPr>
          <p:spPr>
            <a:xfrm>
              <a:off x="457200" y="4305300"/>
              <a:ext cx="5391150" cy="1638300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38200" y="464820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0" y="0"/>
                  </a:moveTo>
                  <a:lnTo>
                    <a:pt x="0" y="304800"/>
                  </a:lnTo>
                  <a:lnTo>
                    <a:pt x="247650" y="15240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287AF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345311" y="4508500"/>
              <a:ext cx="19816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MP4 成片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4944" y="532130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可以播放、发布和展示的作品</a:t>
              </a:r>
            </a:p>
          </p:txBody>
        </p:sp>
      </p:grpSp>
      <p:grpSp>
        <p:nvGrpSpPr>
          <p:cNvPr id="71" name="deliverable-source"/>
          <p:cNvGrpSpPr/>
          <p:nvPr/>
        </p:nvGrpSpPr>
        <p:grpSpPr>
          <a:xfrm>
            <a:off x="6076950" y="4305300"/>
            <a:ext cx="5657850" cy="1638300"/>
            <a:chOff x="6076950" y="4305300"/>
            <a:chExt cx="5657850" cy="1638300"/>
          </a:xfrm>
        </p:grpSpPr>
        <p:sp>
          <p:nvSpPr>
            <p:cNvPr id="64" name="Rectangle 64"/>
            <p:cNvSpPr/>
            <p:nvPr/>
          </p:nvSpPr>
          <p:spPr>
            <a:xfrm>
              <a:off x="6076950" y="4305300"/>
              <a:ext cx="5657850" cy="1638300"/>
            </a:xfrm>
            <a:prstGeom prst="roundRect">
              <a:avLst>
                <a:gd name="adj" fmla="val 11628"/>
              </a:avLst>
            </a:prstGeom>
            <a:solidFill>
              <a:srgbClr val="DCEAFF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381750" y="4648200"/>
              <a:ext cx="342900" cy="304800"/>
              <a:chOff x="6381750" y="4648200"/>
              <a:chExt cx="342900" cy="304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381750" y="47244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76200" y="0"/>
                    </a:moveTo>
                    <a:lnTo>
                      <a:pt x="0" y="762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48450" y="47244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0"/>
                    </a:moveTo>
                    <a:lnTo>
                      <a:pt x="762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15100" y="464820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7620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>
                <a:solidFill>
                  <a:srgbClr val="287AF0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965061" y="450850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可修改的源工程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14694" y="5321300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字幕、素材、节奏与音量继续可控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451104" y="6448425"/>
            <a:ext cx="11289792" cy="234696"/>
            <a:chOff x="451104" y="6448425"/>
            <a:chExt cx="11289792" cy="234696"/>
          </a:xfrm>
        </p:grpSpPr>
        <p:sp>
          <p:nvSpPr>
            <p:cNvPr id="72" name="TextBox 72"/>
            <p:cNvSpPr txBox="1"/>
            <p:nvPr/>
          </p:nvSpPr>
          <p:spPr>
            <a:xfrm>
              <a:off x="451104" y="6448425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运行前提：能够读写文件、执行命令的编码智能体，以及本地运行环境。</a:t>
              </a:r>
            </a:p>
          </p:txBody>
        </p:sp>
        <p:sp>
          <p:nvSpPr>
            <p:cNvPr id="73" name="TextBox 73"/>
            <p:cNvSpPr/>
            <p:nvPr/>
          </p:nvSpPr>
          <p:spPr>
            <a:xfrm>
              <a:off x="11187494" y="644842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06 / 15</a:t>
              </a:r>
            </a:p>
          </p:txBody>
        </p:sp>
      </p:grpSp>
    </p:spTree>
  </p:cSld>
  <p:clrMapOvr>
    <a:masterClrMapping/>
  </p:clrMapOvr>
  <mc:AlternateContent>
    <mc:Choice Requires="p14">
      <p:transition spd="slow">
        <p14:doors dir="ver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6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2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80"/>
                            </p:stCondLst>
                            <p:childTnLst>
                              <p:par>
                                <p:cTn id="25" presetID="37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4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40"/>
                            </p:stCondLst>
                            <p:childTnLst>
                              <p:par>
                                <p:cTn id="32" presetID="37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4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5808726" cy="988314"/>
            <a:chOff x="440436" y="374650"/>
            <a:chExt cx="5808726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04 / 开始使用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说清需求，在网页里选择方向</a:t>
              </a:r>
            </a:p>
          </p:txBody>
        </p:sp>
      </p:grpSp>
      <p:grpSp>
        <p:nvGrpSpPr>
          <p:cNvPr id="10" name="browser"/>
          <p:cNvGrpSpPr/>
          <p:nvPr/>
        </p:nvGrpSpPr>
        <p:grpSpPr>
          <a:xfrm>
            <a:off x="4114800" y="1457325"/>
            <a:ext cx="7620000" cy="4733925"/>
            <a:chOff x="4114800" y="1457325"/>
            <a:chExt cx="7620000" cy="4733925"/>
          </a:xfrm>
        </p:grpSpPr>
        <p:sp>
          <p:nvSpPr>
            <p:cNvPr id="5" name="Rectangle 5"/>
            <p:cNvSpPr/>
            <p:nvPr/>
          </p:nvSpPr>
          <p:spPr>
            <a:xfrm>
              <a:off x="4114800" y="1714500"/>
              <a:ext cx="7620000" cy="4476750"/>
            </a:xfrm>
            <a:prstGeom prst="roundRect">
              <a:avLst>
                <a:gd name="adj" fmla="val 3830"/>
              </a:avLst>
            </a:prstGeom>
            <a:solidFill>
              <a:srgbClr val="D3E6FA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29100" y="1828800"/>
              <a:ext cx="7391400" cy="4343400"/>
            </a:xfrm>
            <a:prstGeom prst="rect">
              <a:avLst/>
            </a:prstGeom>
          </p:spPr>
        </p:pic>
        <p:grpSp>
          <p:nvGrpSpPr>
            <p:cNvPr id="9" name="ui-tag"/>
            <p:cNvGrpSpPr/>
            <p:nvPr/>
          </p:nvGrpSpPr>
          <p:grpSpPr>
            <a:xfrm>
              <a:off x="9124950" y="1457325"/>
              <a:ext cx="2495550" cy="428625"/>
              <a:chOff x="9124950" y="1457325"/>
              <a:chExt cx="2495550" cy="42862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9124950" y="1457325"/>
                <a:ext cx="2495550" cy="428625"/>
              </a:xfrm>
              <a:prstGeom prst="roundRect">
                <a:avLst>
                  <a:gd name="adj" fmla="val 48889"/>
                </a:avLst>
              </a:prstGeom>
              <a:solidFill>
                <a:srgbClr val="287AF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9317355" y="1574800"/>
                <a:ext cx="1862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真实网页 · 方向选择</a:t>
                </a:r>
              </a:p>
            </p:txBody>
          </p:sp>
        </p:grpSp>
      </p:grpSp>
      <p:grpSp>
        <p:nvGrpSpPr>
          <p:cNvPr id="18" name="prompt"/>
          <p:cNvGrpSpPr/>
          <p:nvPr/>
        </p:nvGrpSpPr>
        <p:grpSpPr>
          <a:xfrm>
            <a:off x="457200" y="1714500"/>
            <a:ext cx="3352800" cy="2647950"/>
            <a:chOff x="457200" y="1714500"/>
            <a:chExt cx="3352800" cy="2647950"/>
          </a:xfrm>
        </p:grpSpPr>
        <p:sp>
          <p:nvSpPr>
            <p:cNvPr id="11" name="Rectangle 11"/>
            <p:cNvSpPr/>
            <p:nvPr/>
          </p:nvSpPr>
          <p:spPr>
            <a:xfrm>
              <a:off x="457200" y="1714500"/>
              <a:ext cx="3352800" cy="2647950"/>
            </a:xfrm>
            <a:prstGeom prst="roundRect">
              <a:avLst>
                <a:gd name="adj" fmla="val 6475"/>
              </a:avLst>
            </a:prstGeom>
            <a:solidFill>
              <a:srgbClr val="12376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8180" y="18796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C6FF"/>
                  </a:solidFill>
                  <a:latin typeface="+mn-lt"/>
                  <a:ea typeface="+mn-ea"/>
                  <a:cs typeface="+mn-cs"/>
                </a:rPr>
                <a:t>试着这样提出需求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894" y="2301875"/>
              <a:ext cx="24873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“用 video-master，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5894" y="270192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做一支水滴主题的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5894" y="3101975"/>
              <a:ext cx="19623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 秒原创短片，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5894" y="3502025"/>
              <a:ext cx="20017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带配乐和转场。”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704" y="398145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C6FF"/>
                  </a:solidFill>
                  <a:latin typeface="+mn-lt"/>
                  <a:ea typeface="+mn-ea"/>
                  <a:cs typeface="+mn-cs"/>
                </a:rPr>
                <a:t>主题 + 时长 + 声音 + 素材</a:t>
              </a:r>
            </a:p>
          </p:txBody>
        </p:sp>
      </p:grpSp>
      <p:grpSp>
        <p:nvGrpSpPr>
          <p:cNvPr id="27" name="install"/>
          <p:cNvGrpSpPr/>
          <p:nvPr/>
        </p:nvGrpSpPr>
        <p:grpSpPr>
          <a:xfrm>
            <a:off x="449580" y="4664075"/>
            <a:ext cx="3013901" cy="1385570"/>
            <a:chOff x="449580" y="4664075"/>
            <a:chExt cx="3013901" cy="1385570"/>
          </a:xfrm>
        </p:grpSpPr>
        <p:grpSp>
          <p:nvGrpSpPr>
            <p:cNvPr id="22" name="Group 22"/>
            <p:cNvGrpSpPr/>
            <p:nvPr/>
          </p:nvGrpSpPr>
          <p:grpSpPr>
            <a:xfrm>
              <a:off x="514350" y="4686300"/>
              <a:ext cx="228600" cy="242888"/>
              <a:chOff x="514350" y="4686300"/>
              <a:chExt cx="228600" cy="24288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14350" y="4872038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0" y="28575"/>
                    </a:lnTo>
                    <a:cubicBezTo>
                      <a:pt x="0" y="44357"/>
                      <a:pt x="12793" y="57150"/>
                      <a:pt x="28575" y="57150"/>
                    </a:cubicBezTo>
                    <a:lnTo>
                      <a:pt x="200025" y="57150"/>
                    </a:lnTo>
                    <a:cubicBezTo>
                      <a:pt x="215807" y="57150"/>
                      <a:pt x="228600" y="44357"/>
                      <a:pt x="228600" y="2857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287AF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57212" y="478631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0"/>
                    </a:moveTo>
                    <a:lnTo>
                      <a:pt x="71438" y="71438"/>
                    </a:ln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287AF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28650" y="468630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28575">
                <a:solidFill>
                  <a:srgbClr val="287AF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904494" y="46640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先安装，再调用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9580" y="5127625"/>
              <a:ext cx="2320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下载 Release → 解压 Skill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9580" y="54419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放入宿主支持的目录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9580" y="5756275"/>
              <a:ext cx="30139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在对话中明确调用 video-master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451104" y="6486525"/>
            <a:ext cx="11289792" cy="234696"/>
            <a:chOff x="451104" y="6486525"/>
            <a:chExt cx="112897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48652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网页负责确认与预览；当前智能体会话读取反馈并执行制作。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11187494" y="648652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07 / 15</a:t>
              </a:r>
            </a:p>
          </p:txBody>
        </p:sp>
      </p:grp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6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5808726" cy="988314"/>
            <a:chOff x="440436" y="374650"/>
            <a:chExt cx="5808726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05 / 从意见到画面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先确认台本，再看真正的画面</a:t>
              </a:r>
            </a:p>
          </p:txBody>
        </p:sp>
      </p:grpSp>
      <p:grpSp>
        <p:nvGrpSpPr>
          <p:cNvPr id="8" name="feedback-form"/>
          <p:cNvGrpSpPr/>
          <p:nvPr/>
        </p:nvGrpSpPr>
        <p:grpSpPr>
          <a:xfrm>
            <a:off x="457200" y="1714500"/>
            <a:ext cx="5410200" cy="3505200"/>
            <a:chOff x="457200" y="1714500"/>
            <a:chExt cx="5410200" cy="3505200"/>
          </a:xfrm>
        </p:grpSpPr>
        <p:sp>
          <p:nvSpPr>
            <p:cNvPr id="5" name="Rectangle 5"/>
            <p:cNvSpPr/>
            <p:nvPr/>
          </p:nvSpPr>
          <p:spPr>
            <a:xfrm>
              <a:off x="457200" y="1714500"/>
              <a:ext cx="5410200" cy="3505200"/>
            </a:xfrm>
            <a:prstGeom prst="roundRect">
              <a:avLst>
                <a:gd name="adj" fmla="val 48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75894" y="1835150"/>
              <a:ext cx="19807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01 提交具体修改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312" y="2247900"/>
              <a:ext cx="5133975" cy="2781300"/>
            </a:xfrm>
            <a:prstGeom prst="rect">
              <a:avLst/>
            </a:prstGeom>
          </p:spPr>
        </p:pic>
      </p:grpSp>
      <p:grpSp>
        <p:nvGrpSpPr>
          <p:cNvPr id="12" name="result-screen"/>
          <p:cNvGrpSpPr/>
          <p:nvPr/>
        </p:nvGrpSpPr>
        <p:grpSpPr>
          <a:xfrm>
            <a:off x="6096000" y="1714500"/>
            <a:ext cx="5638800" cy="3505200"/>
            <a:chOff x="6096000" y="1714500"/>
            <a:chExt cx="5638800" cy="3505200"/>
          </a:xfrm>
        </p:grpSpPr>
        <p:sp>
          <p:nvSpPr>
            <p:cNvPr id="9" name="Rectangle 9"/>
            <p:cNvSpPr/>
            <p:nvPr/>
          </p:nvSpPr>
          <p:spPr>
            <a:xfrm>
              <a:off x="6096000" y="1714500"/>
              <a:ext cx="5638800" cy="3505200"/>
            </a:xfrm>
            <a:prstGeom prst="roundRect">
              <a:avLst>
                <a:gd name="adj" fmla="val 4891"/>
              </a:avLst>
            </a:prstGeom>
            <a:solidFill>
              <a:srgbClr val="DCEA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14694" y="1835150"/>
              <a:ext cx="25057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02 在预览里检查结果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4606" y="2247900"/>
              <a:ext cx="5081588" cy="2857500"/>
            </a:xfrm>
            <a:prstGeom prst="rect">
              <a:avLst/>
            </a:prstGeom>
          </p:spPr>
        </p:pic>
      </p:grpSp>
      <p:grpSp>
        <p:nvGrpSpPr>
          <p:cNvPr id="15" name="feedback-example"/>
          <p:cNvGrpSpPr/>
          <p:nvPr/>
        </p:nvGrpSpPr>
        <p:grpSpPr>
          <a:xfrm>
            <a:off x="447294" y="5540375"/>
            <a:ext cx="2526773" cy="743331"/>
            <a:chOff x="447294" y="5540375"/>
            <a:chExt cx="2526773" cy="743331"/>
          </a:xfrm>
        </p:grpSpPr>
        <p:sp>
          <p:nvSpPr>
            <p:cNvPr id="13" name="TextBox 13"/>
            <p:cNvSpPr txBox="1"/>
            <p:nvPr/>
          </p:nvSpPr>
          <p:spPr>
            <a:xfrm>
              <a:off x="447294" y="5540375"/>
              <a:ext cx="25267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“讲到表情、动作时，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294" y="5902325"/>
              <a:ext cx="2008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切换对应差分。”</a:t>
              </a:r>
            </a:p>
          </p:txBody>
        </p:sp>
      </p:grpSp>
      <p:grpSp>
        <p:nvGrpSpPr>
          <p:cNvPr id="18" name="feedback-result"/>
          <p:cNvGrpSpPr/>
          <p:nvPr/>
        </p:nvGrpSpPr>
        <p:grpSpPr>
          <a:xfrm>
            <a:off x="6086094" y="5540375"/>
            <a:ext cx="4219956" cy="718820"/>
            <a:chOff x="6086094" y="5540375"/>
            <a:chExt cx="4219956" cy="718820"/>
          </a:xfrm>
        </p:grpSpPr>
        <p:sp>
          <p:nvSpPr>
            <p:cNvPr id="16" name="TextBox 16"/>
            <p:cNvSpPr txBox="1"/>
            <p:nvPr/>
          </p:nvSpPr>
          <p:spPr>
            <a:xfrm>
              <a:off x="6086094" y="5540375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把反馈落实到镜头、时间点与素材。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59658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确认局部效果，再进行完整导出。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451104" y="650557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实际台本反馈页与成片画面；反馈由智能体读取后执行。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08 / 15</a:t>
              </a:r>
            </a:p>
          </p:txBody>
        </p:sp>
      </p:grpSp>
    </p:spTree>
  </p:cSld>
  <p:clrMapOvr>
    <a:masterClrMapping/>
  </p:clrMapOvr>
  <mc:AlternateContent>
    <mc:Choice Requires="p14">
      <p:transition spd="med" p14:dur="700">
        <p:wipe dir="r"/>
      </p:transition>
    </mc:Choice>
    <mc:Fallback>
      <p:transition spd="med"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1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2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0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7585710" cy="988314"/>
            <a:chOff x="440436" y="374650"/>
            <a:chExt cx="7585710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2BAFF"/>
                  </a:solidFill>
                  <a:latin typeface="+mn-lt"/>
                  <a:ea typeface="+mn-ea"/>
                  <a:cs typeface="+mn-cs"/>
                </a:rPr>
                <a:t>06 / 多种表达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复用的是制作能力，视觉可以重新设计</a:t>
              </a:r>
            </a:p>
          </p:txBody>
        </p:sp>
      </p:grpSp>
      <p:grpSp>
        <p:nvGrpSpPr>
          <p:cNvPr id="12" name="format-mv"/>
          <p:cNvGrpSpPr/>
          <p:nvPr/>
        </p:nvGrpSpPr>
        <p:grpSpPr>
          <a:xfrm>
            <a:off x="457200" y="1752600"/>
            <a:ext cx="3619500" cy="3943350"/>
            <a:chOff x="457200" y="1752600"/>
            <a:chExt cx="3619500" cy="394335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752600"/>
              <a:ext cx="3619500" cy="203835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457200" y="3790950"/>
              <a:ext cx="3619500" cy="1905000"/>
            </a:xfrm>
            <a:prstGeom prst="rect">
              <a:avLst/>
            </a:prstGeom>
            <a:solidFill>
              <a:srgbClr val="19457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5894" y="3978275"/>
              <a:ext cx="17833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音乐短片 / MV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8180" y="4479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图形运动与动态排版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48037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节奏驱动的镜头切换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5267325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2104" y="53149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视觉与节拍优先</a:t>
              </a:r>
            </a:p>
          </p:txBody>
        </p:sp>
      </p:grpSp>
      <p:grpSp>
        <p:nvGrpSpPr>
          <p:cNvPr id="20" name="format-report"/>
          <p:cNvGrpSpPr/>
          <p:nvPr/>
        </p:nvGrpSpPr>
        <p:grpSpPr>
          <a:xfrm>
            <a:off x="4286250" y="1752600"/>
            <a:ext cx="3619500" cy="3943350"/>
            <a:chOff x="4286250" y="1752600"/>
            <a:chExt cx="3619500" cy="394335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86250" y="1752600"/>
              <a:ext cx="3619500" cy="203835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4286250" y="3790950"/>
              <a:ext cx="3619500" cy="1905000"/>
            </a:xfrm>
            <a:prstGeom prst="rect">
              <a:avLst/>
            </a:prstGeom>
            <a:solidFill>
              <a:srgbClr val="19457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04944" y="397827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产品报告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7230" y="4479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数据、信息层级与结论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7230" y="48037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把报告组织成可观看的内容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14850" y="5267325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61154" y="53149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信息与叙事优先</a:t>
              </a:r>
            </a:p>
          </p:txBody>
        </p:sp>
      </p:grpSp>
      <p:grpSp>
        <p:nvGrpSpPr>
          <p:cNvPr id="28" name="format-studio"/>
          <p:cNvGrpSpPr/>
          <p:nvPr/>
        </p:nvGrpSpPr>
        <p:grpSpPr>
          <a:xfrm>
            <a:off x="8115300" y="1752600"/>
            <a:ext cx="3619500" cy="3943350"/>
            <a:chOff x="8115300" y="1752600"/>
            <a:chExt cx="3619500" cy="394335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5300" y="1752600"/>
              <a:ext cx="3619500" cy="2038350"/>
            </a:xfrm>
            <a:prstGeom prst="rect">
              <a:avLst/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8115300" y="3790950"/>
              <a:ext cx="3619500" cy="1905000"/>
            </a:xfrm>
            <a:prstGeom prst="rect">
              <a:avLst/>
            </a:prstGeom>
            <a:solidFill>
              <a:srgbClr val="19457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33994" y="39782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双主持人演播室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6280" y="4479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角色差分、对白和大屏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36280" y="48037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用讲解串联真实界面与案例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43900" y="5267325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90204" y="53149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角色与演示优先</a:t>
              </a:r>
            </a:p>
          </p:txBody>
        </p:sp>
      </p:grpSp>
      <p:grpSp>
        <p:nvGrpSpPr>
          <p:cNvPr id="30" name="common-core"/>
          <p:cNvGrpSpPr/>
          <p:nvPr/>
        </p:nvGrpSpPr>
        <p:grpSpPr>
          <a:xfrm>
            <a:off x="447294" y="5949950"/>
            <a:ext cx="7265060" cy="381381"/>
            <a:chOff x="447294" y="5949950"/>
            <a:chExt cx="7265060" cy="381381"/>
          </a:xfrm>
        </p:grpSpPr>
        <p:sp>
          <p:nvSpPr>
            <p:cNvPr id="29" name="TextBox 29"/>
            <p:cNvSpPr txBox="1"/>
            <p:nvPr/>
          </p:nvSpPr>
          <p:spPr>
            <a:xfrm>
              <a:off x="447294" y="5949950"/>
              <a:ext cx="72650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共同底座：</a:t>
              </a:r>
              <a:r>
                <a:rPr lang="zh-CN" sz="1950" dirty="0">
                  <a:solidFill>
                    <a:srgbClr val="82BAFF"/>
                  </a:solidFill>
                  <a:latin typeface="+mn-lt"/>
                  <a:ea typeface="+mn-ea"/>
                  <a:cs typeface="+mn-cs"/>
                </a:rPr>
                <a:t>素材组织 · 场景代码 · 时间线 · 声音 · 预览与检查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451104" y="650557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DDC"/>
                  </a:solidFill>
                  <a:latin typeface="+mn-lt"/>
                  <a:ea typeface="+mn-ea"/>
                  <a:cs typeface="+mn-cs"/>
                </a:rPr>
                <a:t>展示的是本次制作案例，并非安装后固定出现的模板。</a:t>
              </a:r>
            </a:p>
          </p:txBody>
        </p:sp>
        <p:sp>
          <p:nvSpPr>
            <p:cNvPr id="32" name="TextBox 32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9DBDDC"/>
                  </a:solidFill>
                  <a:latin typeface="Microsoft YaHei"/>
                  <a:ea typeface="Microsoft YaHei"/>
                  <a:cs typeface="Microsoft YaHei"/>
                </a:rPr>
                <a:t>09 / 15</a:t>
              </a:r>
            </a:p>
          </p:txBody>
        </p:sp>
      </p:grpSp>
    </p:spTree>
  </p:cSld>
  <p:clrMapOvr>
    <a:masterClrMapping/>
  </p:clrMapOvr>
  <mc:AlternateContent>
    <mc:Choice Requires="p14">
      <p:transition spd="slow">
        <p14:gallery dir="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0"/>
                            </p:stCondLst>
                            <p:childTnLst>
                              <p:par>
                                <p:cTn id="19" presetID="37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6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6697218" cy="988314"/>
            <a:chOff x="440436" y="374650"/>
            <a:chExt cx="6697218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07 / 角色表演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让角色参与讲解，而不是贴在角落</a:t>
              </a:r>
            </a:p>
          </p:txBody>
        </p:sp>
      </p:grpSp>
      <p:grpSp>
        <p:nvGrpSpPr>
          <p:cNvPr id="9" name="deepseek-actor"/>
          <p:cNvGrpSpPr/>
          <p:nvPr/>
        </p:nvGrpSpPr>
        <p:grpSpPr>
          <a:xfrm>
            <a:off x="459581" y="1971675"/>
            <a:ext cx="2757488" cy="4076700"/>
            <a:chOff x="459581" y="1971675"/>
            <a:chExt cx="2757488" cy="4076700"/>
          </a:xfrm>
        </p:grpSpPr>
        <p:sp>
          <p:nvSpPr>
            <p:cNvPr id="5" name="Ellipse 5"/>
            <p:cNvSpPr/>
            <p:nvPr/>
          </p:nvSpPr>
          <p:spPr>
            <a:xfrm>
              <a:off x="476250" y="2343150"/>
              <a:ext cx="2724150" cy="3619500"/>
            </a:xfrm>
            <a:prstGeom prst="ellipse">
              <a:avLst/>
            </a:prstGeom>
            <a:solidFill>
              <a:srgbClr val="DAE9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581" y="1971675"/>
              <a:ext cx="2757488" cy="32766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533400" y="5495925"/>
              <a:ext cx="2609850" cy="552450"/>
            </a:xfrm>
            <a:prstGeom prst="roundRect">
              <a:avLst>
                <a:gd name="adj" fmla="val 50000"/>
              </a:avLst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7733" y="5616575"/>
              <a:ext cx="12411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Deepseek</a:t>
              </a:r>
            </a:p>
          </p:txBody>
        </p:sp>
      </p:grpSp>
      <p:grpSp>
        <p:nvGrpSpPr>
          <p:cNvPr id="20" name="difference-strip"/>
          <p:cNvGrpSpPr/>
          <p:nvPr/>
        </p:nvGrpSpPr>
        <p:grpSpPr>
          <a:xfrm>
            <a:off x="3467100" y="1733550"/>
            <a:ext cx="5257800" cy="2190750"/>
            <a:chOff x="3467100" y="1733550"/>
            <a:chExt cx="52578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3467100" y="1733550"/>
              <a:ext cx="525780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88080" y="18891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一套身份，多种表达</a:t>
              </a: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0462" y="2257425"/>
              <a:ext cx="1038225" cy="1238250"/>
            </a:xfrm>
            <a:prstGeom prst="rect">
              <a:avLst/>
            </a:prstGeom>
          </p:spPr>
        </p:pic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0144" y="2257425"/>
              <a:ext cx="1033462" cy="1238250"/>
            </a:xfrm>
            <a:prstGeom prst="rect">
              <a:avLst/>
            </a:prstGeom>
          </p:spPr>
        </p:pic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0300" y="2283619"/>
              <a:ext cx="1047750" cy="1185862"/>
            </a:xfrm>
            <a:prstGeom prst="rect">
              <a:avLst/>
            </a:prstGeom>
          </p:spPr>
        </p:pic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67600" y="2290762"/>
              <a:ext cx="1047750" cy="1171575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3937254" y="3609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待机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94554" y="3609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51854" y="3609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挥手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09154" y="3609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提问</a:t>
              </a:r>
            </a:p>
          </p:txBody>
        </p:sp>
      </p:grpSp>
      <p:grpSp>
        <p:nvGrpSpPr>
          <p:cNvPr id="26" name="performance-rules"/>
          <p:cNvGrpSpPr/>
          <p:nvPr/>
        </p:nvGrpSpPr>
        <p:grpSpPr>
          <a:xfrm>
            <a:off x="3457194" y="4273550"/>
            <a:ext cx="3539658" cy="1880870"/>
            <a:chOff x="3457194" y="4273550"/>
            <a:chExt cx="3539658" cy="1880870"/>
          </a:xfrm>
        </p:grpSpPr>
        <p:sp>
          <p:nvSpPr>
            <p:cNvPr id="21" name="TextBox 21"/>
            <p:cNvSpPr txBox="1"/>
            <p:nvPr/>
          </p:nvSpPr>
          <p:spPr>
            <a:xfrm>
              <a:off x="3457194" y="4273550"/>
              <a:ext cx="2532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10 张表情 + 6 张动作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59480" y="47561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表情和动作随内容切换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59480" y="50800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整图轻微摇摆与压缩，保持身体完整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59480" y="54038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主持人站位避开大屏，信息仍是主角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59480" y="5861050"/>
              <a:ext cx="3537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经验已写回 Skill，成为后续制作约束。</a:t>
              </a:r>
            </a:p>
          </p:txBody>
        </p:sp>
      </p:grpSp>
      <p:grpSp>
        <p:nvGrpSpPr>
          <p:cNvPr id="31" name="chatgpt-actor"/>
          <p:cNvGrpSpPr/>
          <p:nvPr/>
        </p:nvGrpSpPr>
        <p:grpSpPr>
          <a:xfrm>
            <a:off x="8972550" y="2059781"/>
            <a:ext cx="2762250" cy="3988594"/>
            <a:chOff x="8972550" y="2059781"/>
            <a:chExt cx="2762250" cy="3988594"/>
          </a:xfrm>
        </p:grpSpPr>
        <p:sp>
          <p:nvSpPr>
            <p:cNvPr id="27" name="Ellipse 27"/>
            <p:cNvSpPr/>
            <p:nvPr/>
          </p:nvSpPr>
          <p:spPr>
            <a:xfrm>
              <a:off x="8991600" y="2343150"/>
              <a:ext cx="2724150" cy="3619500"/>
            </a:xfrm>
            <a:prstGeom prst="ellipse">
              <a:avLst/>
            </a:prstGeom>
            <a:solidFill>
              <a:srgbClr val="E2E4F5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72550" y="2059781"/>
              <a:ext cx="2762250" cy="3100388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9048750" y="5495925"/>
              <a:ext cx="2609850" cy="552450"/>
            </a:xfrm>
            <a:prstGeom prst="roundRect">
              <a:avLst>
                <a:gd name="adj" fmla="val 50000"/>
              </a:avLst>
            </a:prstGeom>
            <a:solidFill>
              <a:srgbClr val="7388B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796011" y="5616575"/>
              <a:ext cx="11153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ChatGPT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50557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沿用用户提供的角色图与本次项目差分素材。</a:t>
              </a:r>
            </a:p>
          </p:txBody>
        </p:sp>
        <p:sp>
          <p:nvSpPr>
            <p:cNvPr id="33" name="TextBox 33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10 / 15</a:t>
              </a:r>
            </a:p>
          </p:txBody>
        </p:sp>
      </p:grpSp>
    </p:spTree>
  </p:cSld>
  <p:clrMapOvr>
    <a:masterClrMapping/>
  </p:clrMapOvr>
  <mc:AlternateContent>
    <mc:Choice Requires="p14">
      <p:transition spd="slow" p14:dur="850">
        <p:split/>
      </p:transition>
    </mc:Choice>
    <mc:Fallback>
      <p:transition spd="slow">
        <p:spli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6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6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6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6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60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6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6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7141464" cy="988314"/>
            <a:chOff x="440436" y="374650"/>
            <a:chExt cx="7141464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08 / 声音制作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声音分开制作，在同一时间线上相遇</a:t>
              </a:r>
            </a:p>
          </p:txBody>
        </p:sp>
      </p:grpSp>
      <p:grpSp>
        <p:nvGrpSpPr>
          <p:cNvPr id="8" name="voice-evidence"/>
          <p:cNvGrpSpPr/>
          <p:nvPr/>
        </p:nvGrpSpPr>
        <p:grpSpPr>
          <a:xfrm>
            <a:off x="457200" y="1714500"/>
            <a:ext cx="6096000" cy="3771900"/>
            <a:chOff x="457200" y="1714500"/>
            <a:chExt cx="6096000" cy="3771900"/>
          </a:xfrm>
        </p:grpSpPr>
        <p:sp>
          <p:nvSpPr>
            <p:cNvPr id="5" name="Rectangle 5"/>
            <p:cNvSpPr/>
            <p:nvPr/>
          </p:nvSpPr>
          <p:spPr>
            <a:xfrm>
              <a:off x="457200" y="1714500"/>
              <a:ext cx="6096000" cy="3771900"/>
            </a:xfrm>
            <a:prstGeom prst="roundRect">
              <a:avLst>
                <a:gd name="adj" fmla="val 4545"/>
              </a:avLst>
            </a:prstGeom>
            <a:solidFill>
              <a:srgbClr val="DCEA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59130" y="18986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逐句试听，先确认台词与音色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2212181"/>
              <a:ext cx="5867400" cy="3176588"/>
            </a:xfrm>
            <a:prstGeom prst="rect">
              <a:avLst/>
            </a:prstGeom>
          </p:spPr>
        </p:pic>
      </p:grpSp>
      <p:grpSp>
        <p:nvGrpSpPr>
          <p:cNvPr id="16" name="voice-track"/>
          <p:cNvGrpSpPr/>
          <p:nvPr/>
        </p:nvGrpSpPr>
        <p:grpSpPr>
          <a:xfrm>
            <a:off x="7002462" y="1778000"/>
            <a:ext cx="3375978" cy="718820"/>
            <a:chOff x="7002462" y="1778000"/>
            <a:chExt cx="3375978" cy="718820"/>
          </a:xfrm>
        </p:grpSpPr>
        <p:grpSp>
          <p:nvGrpSpPr>
            <p:cNvPr id="13" name="Group 13"/>
            <p:cNvGrpSpPr/>
            <p:nvPr/>
          </p:nvGrpSpPr>
          <p:grpSpPr>
            <a:xfrm>
              <a:off x="7002462" y="1873250"/>
              <a:ext cx="244475" cy="341312"/>
              <a:chOff x="7002462" y="1873250"/>
              <a:chExt cx="244475" cy="341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072312" y="1873250"/>
                <a:ext cx="104775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92087">
                    <a:moveTo>
                      <a:pt x="0" y="52387"/>
                    </a:moveTo>
                    <a:cubicBezTo>
                      <a:pt x="0" y="23455"/>
                      <a:pt x="23455" y="0"/>
                      <a:pt x="52387" y="0"/>
                    </a:cubicBezTo>
                    <a:cubicBezTo>
                      <a:pt x="81320" y="0"/>
                      <a:pt x="104775" y="23455"/>
                      <a:pt x="104775" y="52387"/>
                    </a:cubicBezTo>
                    <a:lnTo>
                      <a:pt x="104775" y="139700"/>
                    </a:lnTo>
                    <a:cubicBezTo>
                      <a:pt x="104775" y="168633"/>
                      <a:pt x="81320" y="192087"/>
                      <a:pt x="52387" y="192087"/>
                    </a:cubicBezTo>
                    <a:cubicBezTo>
                      <a:pt x="23455" y="192087"/>
                      <a:pt x="0" y="168633"/>
                      <a:pt x="0" y="139700"/>
                    </a:cubicBez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002462" y="2012950"/>
                <a:ext cx="244475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122237">
                    <a:moveTo>
                      <a:pt x="0" y="0"/>
                    </a:moveTo>
                    <a:cubicBezTo>
                      <a:pt x="0" y="67510"/>
                      <a:pt x="54727" y="122237"/>
                      <a:pt x="122237" y="122237"/>
                    </a:cubicBezTo>
                    <a:cubicBezTo>
                      <a:pt x="189747" y="122237"/>
                      <a:pt x="244475" y="67510"/>
                      <a:pt x="244475" y="0"/>
                    </a:cubicBez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054850" y="2205037"/>
                <a:ext cx="13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9525">
                    <a:moveTo>
                      <a:pt x="0" y="0"/>
                    </a:moveTo>
                    <a:lnTo>
                      <a:pt x="139700" y="0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124700" y="2135187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533894" y="177800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人声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36180" y="22034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确认台本后合成，逐句保留资产</a:t>
              </a:r>
            </a:p>
          </p:txBody>
        </p:sp>
      </p:grpSp>
      <p:grpSp>
        <p:nvGrpSpPr>
          <p:cNvPr id="24" name="music-track"/>
          <p:cNvGrpSpPr/>
          <p:nvPr/>
        </p:nvGrpSpPr>
        <p:grpSpPr>
          <a:xfrm>
            <a:off x="6967537" y="2806700"/>
            <a:ext cx="3208973" cy="718820"/>
            <a:chOff x="6967537" y="2806700"/>
            <a:chExt cx="3208973" cy="718820"/>
          </a:xfrm>
        </p:grpSpPr>
        <p:grpSp>
          <p:nvGrpSpPr>
            <p:cNvPr id="21" name="Group 21"/>
            <p:cNvGrpSpPr/>
            <p:nvPr/>
          </p:nvGrpSpPr>
          <p:grpSpPr>
            <a:xfrm>
              <a:off x="6967537" y="2936875"/>
              <a:ext cx="279400" cy="279400"/>
              <a:chOff x="6967537" y="2936875"/>
              <a:chExt cx="279400" cy="279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967537" y="31115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cubicBezTo>
                      <a:pt x="0" y="81320"/>
                      <a:pt x="23455" y="104775"/>
                      <a:pt x="52387" y="104775"/>
                    </a:cubicBezTo>
                    <a:cubicBezTo>
                      <a:pt x="81320" y="104775"/>
                      <a:pt x="104775" y="81320"/>
                      <a:pt x="104775" y="52387"/>
                    </a:cubicBezTo>
                    <a:cubicBezTo>
                      <a:pt x="104775" y="23455"/>
                      <a:pt x="81320" y="0"/>
                      <a:pt x="52387" y="0"/>
                    </a:cubicBezTo>
                    <a:cubicBezTo>
                      <a:pt x="23455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142162" y="31115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cubicBezTo>
                      <a:pt x="0" y="81320"/>
                      <a:pt x="23455" y="104775"/>
                      <a:pt x="52387" y="104775"/>
                    </a:cubicBezTo>
                    <a:cubicBezTo>
                      <a:pt x="81320" y="104775"/>
                      <a:pt x="104775" y="81320"/>
                      <a:pt x="104775" y="52387"/>
                    </a:cubicBezTo>
                    <a:cubicBezTo>
                      <a:pt x="104775" y="23455"/>
                      <a:pt x="81320" y="0"/>
                      <a:pt x="52387" y="0"/>
                    </a:cubicBezTo>
                    <a:cubicBezTo>
                      <a:pt x="23455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072312" y="2936875"/>
                <a:ext cx="1746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227012">
                    <a:moveTo>
                      <a:pt x="0" y="227012"/>
                    </a:moveTo>
                    <a:lnTo>
                      <a:pt x="0" y="0"/>
                    </a:lnTo>
                    <a:lnTo>
                      <a:pt x="174625" y="0"/>
                    </a:lnTo>
                    <a:lnTo>
                      <a:pt x="174625" y="227012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72312" y="3006725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533894" y="28067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背景音乐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36180" y="32321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多乐器编排，章节之间有变化</a:t>
              </a:r>
            </a:p>
          </p:txBody>
        </p:sp>
      </p:grpSp>
      <p:grpSp>
        <p:nvGrpSpPr>
          <p:cNvPr id="36" name="clip-track"/>
          <p:cNvGrpSpPr/>
          <p:nvPr/>
        </p:nvGrpSpPr>
        <p:grpSpPr>
          <a:xfrm>
            <a:off x="6985000" y="3835400"/>
            <a:ext cx="2989580" cy="718820"/>
            <a:chOff x="6985000" y="3835400"/>
            <a:chExt cx="2989580" cy="718820"/>
          </a:xfrm>
        </p:grpSpPr>
        <p:grpSp>
          <p:nvGrpSpPr>
            <p:cNvPr id="33" name="Group 33"/>
            <p:cNvGrpSpPr/>
            <p:nvPr/>
          </p:nvGrpSpPr>
          <p:grpSpPr>
            <a:xfrm>
              <a:off x="6985000" y="3965575"/>
              <a:ext cx="279399" cy="279399"/>
              <a:chOff x="6985000" y="3965575"/>
              <a:chExt cx="279399" cy="27939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85000" y="3965575"/>
                <a:ext cx="279399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279399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244475" y="0"/>
                    </a:lnTo>
                    <a:cubicBezTo>
                      <a:pt x="263763" y="0"/>
                      <a:pt x="279399" y="15636"/>
                      <a:pt x="279399" y="34925"/>
                    </a:cubicBezTo>
                    <a:lnTo>
                      <a:pt x="279399" y="244475"/>
                    </a:lnTo>
                    <a:cubicBezTo>
                      <a:pt x="279399" y="263763"/>
                      <a:pt x="263763" y="279399"/>
                      <a:pt x="244475" y="279399"/>
                    </a:cubicBezTo>
                    <a:lnTo>
                      <a:pt x="34925" y="279399"/>
                    </a:lnTo>
                    <a:cubicBezTo>
                      <a:pt x="15636" y="279399"/>
                      <a:pt x="0" y="263763"/>
                      <a:pt x="0" y="2444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54850" y="3965575"/>
                <a:ext cx="9525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9399">
                    <a:moveTo>
                      <a:pt x="0" y="0"/>
                    </a:moveTo>
                    <a:lnTo>
                      <a:pt x="0" y="279399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194549" y="3965575"/>
                <a:ext cx="9525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9399">
                    <a:moveTo>
                      <a:pt x="0" y="0"/>
                    </a:moveTo>
                    <a:lnTo>
                      <a:pt x="0" y="279399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985000" y="4035425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85000" y="4175124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85000" y="4105275"/>
                <a:ext cx="2793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9525">
                    <a:moveTo>
                      <a:pt x="0" y="0"/>
                    </a:move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194549" y="4035425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194549" y="4175124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87AF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533894" y="3835400"/>
              <a:ext cx="24368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音效 / 插入视频原声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36180" y="42608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独立控制，避免盖过主持人</a:t>
              </a:r>
            </a:p>
          </p:txBody>
        </p:sp>
      </p:grpSp>
      <p:grpSp>
        <p:nvGrpSpPr>
          <p:cNvPr id="39" name="mixing-rule"/>
          <p:cNvGrpSpPr/>
          <p:nvPr/>
        </p:nvGrpSpPr>
        <p:grpSpPr>
          <a:xfrm>
            <a:off x="457200" y="5715000"/>
            <a:ext cx="11277600" cy="542925"/>
            <a:chOff x="457200" y="5715000"/>
            <a:chExt cx="11277600" cy="542925"/>
          </a:xfrm>
        </p:grpSpPr>
        <p:sp>
          <p:nvSpPr>
            <p:cNvPr id="37" name="Rectangle 37"/>
            <p:cNvSpPr/>
            <p:nvPr/>
          </p:nvSpPr>
          <p:spPr>
            <a:xfrm>
              <a:off x="457200" y="5715000"/>
              <a:ext cx="11277600" cy="542925"/>
            </a:xfrm>
            <a:prstGeom prst="roundRect">
              <a:avLst>
                <a:gd name="adj" fmla="val 28070"/>
              </a:avLst>
            </a:prstGeom>
            <a:solidFill>
              <a:srgbClr val="12376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894" y="5835650"/>
              <a:ext cx="84463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对白出现：配乐压低　→　对白结束：</a:t>
              </a:r>
              <a:r>
                <a:rPr lang="zh-CN" sz="1950" b="1" dirty="0">
                  <a:solidFill>
                    <a:srgbClr val="91C8FF"/>
                  </a:solidFill>
                  <a:latin typeface="+mn-lt"/>
                  <a:ea typeface="+mn-ea"/>
                  <a:cs typeface="+mn-cs"/>
                </a:rPr>
                <a:t>平滑渐强恢复</a:t>
              </a:r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　→　下一句自然进入</a:t>
              </a:r>
            </a:p>
          </p:txBody>
        </p:sp>
      </p:grpSp>
      <p:grpSp>
        <p:nvGrpSpPr>
          <p:cNvPr id="42" name="voice-metric"/>
          <p:cNvGrpSpPr/>
          <p:nvPr/>
        </p:nvGrpSpPr>
        <p:grpSpPr>
          <a:xfrm>
            <a:off x="6898386" y="4822825"/>
            <a:ext cx="3356610" cy="645414"/>
            <a:chOff x="6898386" y="4822825"/>
            <a:chExt cx="3356610" cy="645414"/>
          </a:xfrm>
        </p:grpSpPr>
        <p:sp>
          <p:nvSpPr>
            <p:cNvPr id="40" name="TextBox 40"/>
            <p:cNvSpPr txBox="1"/>
            <p:nvPr/>
          </p:nvSpPr>
          <p:spPr>
            <a:xfrm>
              <a:off x="6898386" y="482282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0094" y="49879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句对白已在本项目完成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451104" y="6505575"/>
              <a:ext cx="3856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API 按所选方案启用；已有录音也可以直接作为素材。</a:t>
              </a:r>
            </a:p>
          </p:txBody>
        </p:sp>
        <p:sp>
          <p:nvSpPr>
            <p:cNvPr id="44" name="TextBox 44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11 / 15</a:t>
              </a:r>
            </a:p>
          </p:txBody>
        </p:sp>
      </p:grp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1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2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3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40"/>
                            </p:stCondLst>
                            <p:childTnLst>
                              <p:par>
                                <p:cTn id="27" presetID="37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10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6697218" cy="988314"/>
            <a:chOff x="440436" y="374650"/>
            <a:chExt cx="6697218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2923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2BAFF"/>
                  </a:solidFill>
                  <a:latin typeface="+mn-lt"/>
                  <a:ea typeface="+mn-ea"/>
                  <a:cs typeface="+mn-cs"/>
                </a:rPr>
                <a:t>09 / 内部实现 · 非用户操作界面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按时间求画面状态，再渲染与编码</a:t>
              </a:r>
            </a:p>
          </p:txBody>
        </p:sp>
      </p:grpSp>
      <p:grpSp>
        <p:nvGrpSpPr>
          <p:cNvPr id="11" name="real-code"/>
          <p:cNvGrpSpPr/>
          <p:nvPr/>
        </p:nvGrpSpPr>
        <p:grpSpPr>
          <a:xfrm>
            <a:off x="457200" y="1714500"/>
            <a:ext cx="5810250" cy="3752850"/>
            <a:chOff x="457200" y="1714500"/>
            <a:chExt cx="5810250" cy="3752850"/>
          </a:xfrm>
        </p:grpSpPr>
        <p:sp>
          <p:nvSpPr>
            <p:cNvPr id="5" name="Rectangle 5"/>
            <p:cNvSpPr/>
            <p:nvPr/>
          </p:nvSpPr>
          <p:spPr>
            <a:xfrm>
              <a:off x="457200" y="1714500"/>
              <a:ext cx="5810250" cy="3752850"/>
            </a:xfrm>
            <a:prstGeom prst="roundRect">
              <a:avLst>
                <a:gd name="adj" fmla="val 4569"/>
              </a:avLst>
            </a:prstGeom>
            <a:solidFill>
              <a:srgbClr val="071D37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657225" y="1924050"/>
              <a:ext cx="95250" cy="95250"/>
            </a:xfrm>
            <a:prstGeom prst="ellipse">
              <a:avLst/>
            </a:prstGeom>
            <a:solidFill>
              <a:srgbClr val="7396BD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28675" y="1924050"/>
              <a:ext cx="95250" cy="95250"/>
            </a:xfrm>
            <a:prstGeom prst="ellipse">
              <a:avLst/>
            </a:prstGeom>
            <a:solidFill>
              <a:srgbClr val="7396BD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00125" y="1924050"/>
              <a:ext cx="95250" cy="95250"/>
            </a:xfrm>
            <a:prstGeom prst="ellipse">
              <a:avLst/>
            </a:prstGeom>
            <a:solidFill>
              <a:srgbClr val="7396B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8354" y="1876425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6C5E7"/>
                  </a:solidFill>
                  <a:latin typeface="+mn-lt"/>
                  <a:ea typeface="+mn-ea"/>
                  <a:cs typeface="+mn-cs"/>
                </a:rPr>
                <a:t>episode-scene.js · 实际代码节选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2279650"/>
              <a:ext cx="3472815" cy="2560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  <a:t>function currentScene(tl, t) {</a:t>
              </a:r>
              <a:b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  <a:t>return tl.cues.find(x =&gt;</a:t>
              </a:r>
              <a:b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  <a:t>x.kind === 'scene' &amp;&amp;</a:t>
              </a:r>
              <a:b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  <a:t>t &gt;= x.start_sec &amp;&amp; t &lt; x.end_sec</a:t>
              </a:r>
              <a:b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  <a:t>) || tl.cues.filter(</a:t>
              </a:r>
              <a:b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  <a:t>x =&gt; x.kind === 'scene'</a:t>
              </a:r>
              <a:b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  <a:t>).at(-1);</a:t>
              </a:r>
              <a:br>
                <a:rPr lang="en-US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500" dirty="0">
                  <a:solidFill>
                    <a:srgbClr val="CFE4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state-input"/>
          <p:cNvGrpSpPr/>
          <p:nvPr/>
        </p:nvGrpSpPr>
        <p:grpSpPr>
          <a:xfrm>
            <a:off x="6724650" y="1714500"/>
            <a:ext cx="5010150" cy="819150"/>
            <a:chOff x="6724650" y="1714500"/>
            <a:chExt cx="5010150" cy="819150"/>
          </a:xfrm>
        </p:grpSpPr>
        <p:sp>
          <p:nvSpPr>
            <p:cNvPr id="12" name="Rectangle 12"/>
            <p:cNvSpPr/>
            <p:nvPr/>
          </p:nvSpPr>
          <p:spPr>
            <a:xfrm>
              <a:off x="6724650" y="1714500"/>
              <a:ext cx="5010150" cy="819150"/>
            </a:xfrm>
            <a:prstGeom prst="roundRect">
              <a:avLst>
                <a:gd name="adj" fmla="val 16279"/>
              </a:avLst>
            </a:prstGeom>
            <a:solidFill>
              <a:srgbClr val="19457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3344" y="1816100"/>
              <a:ext cx="30163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时间线 + 素材 + 场景代码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47154" y="221932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镜头、字幕、角色、声音都有自己的时间范围</a:t>
              </a:r>
            </a:p>
          </p:txBody>
        </p:sp>
      </p:grpSp>
      <p:grpSp>
        <p:nvGrpSpPr>
          <p:cNvPr id="19" name="state-render"/>
          <p:cNvGrpSpPr/>
          <p:nvPr/>
        </p:nvGrpSpPr>
        <p:grpSpPr>
          <a:xfrm>
            <a:off x="6724650" y="2838450"/>
            <a:ext cx="5010150" cy="819150"/>
            <a:chOff x="6724650" y="2838450"/>
            <a:chExt cx="5010150" cy="819150"/>
          </a:xfrm>
        </p:grpSpPr>
        <p:sp>
          <p:nvSpPr>
            <p:cNvPr id="16" name="Rectangle 16"/>
            <p:cNvSpPr/>
            <p:nvPr/>
          </p:nvSpPr>
          <p:spPr>
            <a:xfrm>
              <a:off x="6724650" y="2838450"/>
              <a:ext cx="5010150" cy="819150"/>
            </a:xfrm>
            <a:prstGeom prst="roundRect">
              <a:avLst>
                <a:gd name="adj" fmla="val 16279"/>
              </a:avLst>
            </a:prstGeom>
            <a:solidFill>
              <a:srgbClr val="2266C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43344" y="29400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浏览器绘制每一帧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47154" y="3343275"/>
              <a:ext cx="24251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AFF"/>
                  </a:solidFill>
                  <a:latin typeface="+mn-lt"/>
                  <a:ea typeface="+mn-ea"/>
                  <a:cs typeface="+mn-cs"/>
                </a:rPr>
                <a:t>场景状态驱动 Canvas 画面与动作</a:t>
              </a:r>
            </a:p>
          </p:txBody>
        </p:sp>
      </p:grpSp>
      <p:grpSp>
        <p:nvGrpSpPr>
          <p:cNvPr id="23" name="state-encode"/>
          <p:cNvGrpSpPr/>
          <p:nvPr/>
        </p:nvGrpSpPr>
        <p:grpSpPr>
          <a:xfrm>
            <a:off x="6724650" y="3962400"/>
            <a:ext cx="5010150" cy="819150"/>
            <a:chOff x="6724650" y="3962400"/>
            <a:chExt cx="5010150" cy="819150"/>
          </a:xfrm>
        </p:grpSpPr>
        <p:sp>
          <p:nvSpPr>
            <p:cNvPr id="20" name="Rectangle 20"/>
            <p:cNvSpPr/>
            <p:nvPr/>
          </p:nvSpPr>
          <p:spPr>
            <a:xfrm>
              <a:off x="6724650" y="3962400"/>
              <a:ext cx="5010150" cy="819150"/>
            </a:xfrm>
            <a:prstGeom prst="roundRect">
              <a:avLst>
                <a:gd name="adj" fmla="val 16279"/>
              </a:avLst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43344" y="4064000"/>
              <a:ext cx="23995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FFmpeg 编码与混音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47154" y="4467225"/>
              <a:ext cx="1994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AFF"/>
                  </a:solidFill>
                  <a:latin typeface="+mn-lt"/>
                  <a:ea typeface="+mn-ea"/>
                  <a:cs typeface="+mn-cs"/>
                </a:rPr>
                <a:t>输出 MP4，并检查实际成片</a:t>
              </a:r>
            </a:p>
          </p:txBody>
        </p:sp>
      </p:grpSp>
      <p:grpSp>
        <p:nvGrpSpPr>
          <p:cNvPr id="25" name="flow-input"/>
          <p:cNvGrpSpPr/>
          <p:nvPr/>
        </p:nvGrpSpPr>
        <p:grpSpPr>
          <a:xfrm>
            <a:off x="9229725" y="2562225"/>
            <a:ext cx="9525" cy="238125"/>
            <a:chOff x="9229725" y="2562225"/>
            <a:chExt cx="9525" cy="238125"/>
          </a:xfrm>
        </p:grpSpPr>
        <p:sp>
          <p:nvSpPr>
            <p:cNvPr id="24" name="Line 24"/>
            <p:cNvSpPr/>
            <p:nvPr/>
          </p:nvSpPr>
          <p:spPr>
            <a:xfrm>
              <a:off x="9229725" y="256222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82BAFF"/>
              </a:solidFill>
            </a:ln>
          </p:spPr>
        </p:sp>
      </p:grpSp>
      <p:grpSp>
        <p:nvGrpSpPr>
          <p:cNvPr id="27" name="flow-output"/>
          <p:cNvGrpSpPr/>
          <p:nvPr/>
        </p:nvGrpSpPr>
        <p:grpSpPr>
          <a:xfrm>
            <a:off x="9229725" y="3686175"/>
            <a:ext cx="9525" cy="238125"/>
            <a:chOff x="9229725" y="3686175"/>
            <a:chExt cx="9525" cy="238125"/>
          </a:xfrm>
        </p:grpSpPr>
        <p:sp>
          <p:nvSpPr>
            <p:cNvPr id="26" name="Line 26"/>
            <p:cNvSpPr/>
            <p:nvPr/>
          </p:nvSpPr>
          <p:spPr>
            <a:xfrm>
              <a:off x="9229725" y="368617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82BAFF"/>
              </a:solidFill>
            </a:ln>
          </p:spPr>
        </p:sp>
      </p:grpSp>
      <p:grpSp>
        <p:nvGrpSpPr>
          <p:cNvPr id="29" name="state-note"/>
          <p:cNvGrpSpPr/>
          <p:nvPr/>
        </p:nvGrpSpPr>
        <p:grpSpPr>
          <a:xfrm>
            <a:off x="6717030" y="5146675"/>
            <a:ext cx="3044190" cy="293370"/>
            <a:chOff x="6717030" y="5146675"/>
            <a:chExt cx="3044190" cy="293370"/>
          </a:xfrm>
        </p:grpSpPr>
        <p:sp>
          <p:nvSpPr>
            <p:cNvPr id="28" name="TextBox 28"/>
            <p:cNvSpPr txBox="1"/>
            <p:nvPr/>
          </p:nvSpPr>
          <p:spPr>
            <a:xfrm>
              <a:off x="6717030" y="5146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浏览器预览与导出共用画面逻辑。</a:t>
              </a:r>
            </a:p>
          </p:txBody>
        </p:sp>
      </p:grpSp>
      <p:grpSp>
        <p:nvGrpSpPr>
          <p:cNvPr id="32" name="bug-lesson"/>
          <p:cNvGrpSpPr/>
          <p:nvPr/>
        </p:nvGrpSpPr>
        <p:grpSpPr>
          <a:xfrm>
            <a:off x="457200" y="5715000"/>
            <a:ext cx="11277600" cy="581025"/>
            <a:chOff x="457200" y="5715000"/>
            <a:chExt cx="11277600" cy="581025"/>
          </a:xfrm>
        </p:grpSpPr>
        <p:sp>
          <p:nvSpPr>
            <p:cNvPr id="30" name="Rectangle 30"/>
            <p:cNvSpPr/>
            <p:nvPr/>
          </p:nvSpPr>
          <p:spPr>
            <a:xfrm>
              <a:off x="457200" y="5715000"/>
              <a:ext cx="11277600" cy="581025"/>
            </a:xfrm>
            <a:prstGeom prst="roundRect">
              <a:avLst>
                <a:gd name="adj" fmla="val 22951"/>
              </a:avLst>
            </a:prstGeom>
            <a:solidFill>
              <a:srgbClr val="19457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894" y="5845175"/>
              <a:ext cx="81575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修复经验：</a:t>
              </a:r>
              <a:r>
                <a:rPr lang="zh-CN" sz="1950" b="1" dirty="0">
                  <a:solidFill>
                    <a:srgbClr val="8FC8FF"/>
                  </a:solidFill>
                  <a:latin typeface="+mn-lt"/>
                  <a:ea typeface="+mn-ea"/>
                  <a:cs typeface="+mn-cs"/>
                </a:rPr>
                <a:t>显示状态与发声状态分开</a:t>
              </a:r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，对白空隙不应重置为默认首帧。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451104" y="6505575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DDC"/>
                  </a:solidFill>
                  <a:latin typeface="+mn-lt"/>
                  <a:ea typeface="+mn-ea"/>
                  <a:cs typeface="+mn-cs"/>
                </a:rPr>
                <a:t>内部实现集中展示；普通用户主要通过需求、网页反馈与预览参与。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9DBDDC"/>
                  </a:solidFill>
                  <a:latin typeface="Microsoft YaHei"/>
                  <a:ea typeface="Microsoft YaHei"/>
                  <a:cs typeface="Microsoft YaHei"/>
                </a:rPr>
                <a:t>12 / 15</a:t>
              </a:r>
            </a:p>
          </p:txBody>
        </p:sp>
      </p:grpSp>
    </p:spTree>
  </p:cSld>
  <p:clrMapOvr>
    <a:masterClrMapping/>
  </p:clrMapOvr>
  <mc:AlternateContent>
    <mc:Choice Requires="p14">
      <p:transition spd="slow" p14:dur="950">
        <p14:warp dir="in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6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2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80"/>
                            </p:stCondLst>
                            <p:childTnLst>
                              <p:par>
                                <p:cTn id="23" presetID="37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95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5" accel="100000" fill="hold">
                                          <p:stCondLst>
                                            <p:cond delay="49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8474202" cy="988314"/>
            <a:chOff x="440436" y="374650"/>
            <a:chExt cx="8474202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10 / 与生成式视频模型的路线对比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代码生成画面，素材独立组合，成本更可控</a:t>
              </a:r>
            </a:p>
          </p:txBody>
        </p:sp>
      </p:grpSp>
      <p:grpSp>
        <p:nvGrpSpPr>
          <p:cNvPr id="16" name="model-route"/>
          <p:cNvGrpSpPr/>
          <p:nvPr/>
        </p:nvGrpSpPr>
        <p:grpSpPr>
          <a:xfrm>
            <a:off x="457200" y="1657350"/>
            <a:ext cx="4076700" cy="3486150"/>
            <a:chOff x="457200" y="1657350"/>
            <a:chExt cx="4076700" cy="3486150"/>
          </a:xfrm>
        </p:grpSpPr>
        <p:sp>
          <p:nvSpPr>
            <p:cNvPr id="5" name="Rectangle 5"/>
            <p:cNvSpPr/>
            <p:nvPr/>
          </p:nvSpPr>
          <p:spPr>
            <a:xfrm>
              <a:off x="457200" y="1657350"/>
              <a:ext cx="4076700" cy="3486150"/>
            </a:xfrm>
            <a:prstGeom prst="roundRect">
              <a:avLst>
                <a:gd name="adj" fmla="val 5464"/>
              </a:avLst>
            </a:prstGeom>
            <a:solidFill>
              <a:srgbClr val="E1E8F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75894" y="1787525"/>
              <a:ext cx="3162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Seedance 等视频生成模型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8180" y="217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擅长生成镜头、运动与视听内容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2619375"/>
              <a:ext cx="3619500" cy="4572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7730" y="2746375"/>
              <a:ext cx="2933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提示词 + 图片 / 音频 / 视频参考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495550" y="313372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8575">
              <a:solidFill>
                <a:srgbClr val="7388BC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85800" y="3362325"/>
              <a:ext cx="3619500" cy="609600"/>
            </a:xfrm>
            <a:prstGeom prst="roundRect">
              <a:avLst>
                <a:gd name="adj" fmla="val 18750"/>
              </a:avLst>
            </a:prstGeom>
            <a:solidFill>
              <a:srgbClr val="7388B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4609" y="3511550"/>
              <a:ext cx="29618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模型推理 → 生成视频片段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1465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需要新镜头时，再生成或编辑片段。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4704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调用范围、次数与所选规格影响费用。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704" y="482917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支持多模态参考与编辑，并非只能整片重做。</a:t>
              </a:r>
            </a:p>
          </p:txBody>
        </p:sp>
      </p:grpSp>
      <p:grpSp>
        <p:nvGrpSpPr>
          <p:cNvPr id="25" name="code-route"/>
          <p:cNvGrpSpPr/>
          <p:nvPr/>
        </p:nvGrpSpPr>
        <p:grpSpPr>
          <a:xfrm>
            <a:off x="4781550" y="1657350"/>
            <a:ext cx="6953250" cy="1314450"/>
            <a:chOff x="4781550" y="1657350"/>
            <a:chExt cx="6953250" cy="1314450"/>
          </a:xfrm>
        </p:grpSpPr>
        <p:sp>
          <p:nvSpPr>
            <p:cNvPr id="17" name="Rectangle 17"/>
            <p:cNvSpPr/>
            <p:nvPr/>
          </p:nvSpPr>
          <p:spPr>
            <a:xfrm>
              <a:off x="4781550" y="1657350"/>
              <a:ext cx="6953250" cy="1314450"/>
            </a:xfrm>
            <a:prstGeom prst="roundRect">
              <a:avLst>
                <a:gd name="adj" fmla="val 14493"/>
              </a:avLst>
            </a:prstGeom>
            <a:solidFill>
              <a:srgbClr val="123766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055394" y="1927225"/>
              <a:ext cx="271462" cy="241299"/>
              <a:chOff x="5055394" y="1927225"/>
              <a:chExt cx="271462" cy="2412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055394" y="1987550"/>
                <a:ext cx="603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20650">
                    <a:moveTo>
                      <a:pt x="60325" y="0"/>
                    </a:moveTo>
                    <a:lnTo>
                      <a:pt x="0" y="60325"/>
                    </a:lnTo>
                    <a:lnTo>
                      <a:pt x="60325" y="120650"/>
                    </a:lnTo>
                  </a:path>
                </a:pathLst>
              </a:custGeom>
              <a:noFill/>
              <a:ln w="30162">
                <a:solidFill>
                  <a:srgbClr val="82BA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266531" y="1987550"/>
                <a:ext cx="603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20650">
                    <a:moveTo>
                      <a:pt x="0" y="0"/>
                    </a:moveTo>
                    <a:lnTo>
                      <a:pt x="60325" y="60325"/>
                    </a:lnTo>
                    <a:lnTo>
                      <a:pt x="0" y="120650"/>
                    </a:lnTo>
                  </a:path>
                </a:pathLst>
              </a:custGeom>
              <a:noFill/>
              <a:ln w="30162">
                <a:solidFill>
                  <a:srgbClr val="82BA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160962" y="1927225"/>
                <a:ext cx="6032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241299">
                    <a:moveTo>
                      <a:pt x="60325" y="0"/>
                    </a:moveTo>
                    <a:lnTo>
                      <a:pt x="0" y="241299"/>
                    </a:lnTo>
                  </a:path>
                </a:pathLst>
              </a:custGeom>
              <a:noFill/>
              <a:ln w="30162">
                <a:solidFill>
                  <a:srgbClr val="82BA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552694" y="1901825"/>
              <a:ext cx="49820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Master · 纯代码生成主视觉与动画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02530" y="24034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4DFFF"/>
                  </a:solidFill>
                  <a:latin typeface="+mn-lt"/>
                  <a:ea typeface="+mn-ea"/>
                  <a:cs typeface="+mn-cs"/>
                </a:rPr>
                <a:t>排版、图形、镜头与转场由代码绘制；素材按需接入。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4054" y="269557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2BAFF"/>
                  </a:solidFill>
                  <a:latin typeface="+mn-lt"/>
                  <a:ea typeface="+mn-ea"/>
                  <a:cs typeface="+mn-cs"/>
                </a:rPr>
                <a:t>不依赖文生视频模型逐段生成主要画面</a:t>
              </a:r>
            </a:p>
          </p:txBody>
        </p:sp>
      </p:grpSp>
      <p:grpSp>
        <p:nvGrpSpPr>
          <p:cNvPr id="36" name="independent-assets"/>
          <p:cNvGrpSpPr/>
          <p:nvPr/>
        </p:nvGrpSpPr>
        <p:grpSpPr>
          <a:xfrm>
            <a:off x="4781550" y="3124200"/>
            <a:ext cx="6953250" cy="1009650"/>
            <a:chOff x="4781550" y="3124200"/>
            <a:chExt cx="6953250" cy="1009650"/>
          </a:xfrm>
        </p:grpSpPr>
        <p:sp>
          <p:nvSpPr>
            <p:cNvPr id="26" name="Rectangle 26"/>
            <p:cNvSpPr/>
            <p:nvPr/>
          </p:nvSpPr>
          <p:spPr>
            <a:xfrm>
              <a:off x="4781550" y="3124200"/>
              <a:ext cx="6953250" cy="1009650"/>
            </a:xfrm>
            <a:prstGeom prst="roundRect">
              <a:avLst>
                <a:gd name="adj" fmla="val 1509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04054" y="32575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素材分别实现、独立保存，可单独替换与复用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010150" y="3571875"/>
              <a:ext cx="1428750" cy="400050"/>
            </a:xfrm>
            <a:prstGeom prst="roundRect">
              <a:avLst>
                <a:gd name="adj" fmla="val 28571"/>
              </a:avLst>
            </a:prstGeom>
            <a:solidFill>
              <a:srgbClr val="E1EFF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72250" y="3571875"/>
              <a:ext cx="1428750" cy="400050"/>
            </a:xfrm>
            <a:prstGeom prst="roundRect">
              <a:avLst>
                <a:gd name="adj" fmla="val 28571"/>
              </a:avLst>
            </a:prstGeom>
            <a:solidFill>
              <a:srgbClr val="E1EF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34350" y="3571875"/>
              <a:ext cx="1428750" cy="400050"/>
            </a:xfrm>
            <a:prstGeom prst="roundRect">
              <a:avLst>
                <a:gd name="adj" fmla="val 28571"/>
              </a:avLst>
            </a:prstGeom>
            <a:solidFill>
              <a:srgbClr val="E1EF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696450" y="3571875"/>
              <a:ext cx="1809750" cy="400050"/>
            </a:xfrm>
            <a:prstGeom prst="roundRect">
              <a:avLst>
                <a:gd name="adj" fmla="val 28571"/>
              </a:avLst>
            </a:prstGeom>
            <a:solidFill>
              <a:srgbClr val="E1E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12080" y="3660775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图片 / 差分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74180" y="3660775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对白 / 配音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6280" y="3660775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配乐 / 音效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98380" y="36607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截图 / 已有视频</a:t>
              </a:r>
            </a:p>
          </p:txBody>
        </p:sp>
      </p:grpSp>
      <p:grpSp>
        <p:nvGrpSpPr>
          <p:cNvPr id="40" name="local-composition"/>
          <p:cNvGrpSpPr/>
          <p:nvPr/>
        </p:nvGrpSpPr>
        <p:grpSpPr>
          <a:xfrm>
            <a:off x="4781550" y="4286250"/>
            <a:ext cx="6953250" cy="857250"/>
            <a:chOff x="4781550" y="4286250"/>
            <a:chExt cx="6953250" cy="857250"/>
          </a:xfrm>
        </p:grpSpPr>
        <p:sp>
          <p:nvSpPr>
            <p:cNvPr id="37" name="Rectangle 37"/>
            <p:cNvSpPr/>
            <p:nvPr/>
          </p:nvSpPr>
          <p:spPr>
            <a:xfrm>
              <a:off x="4781550" y="4286250"/>
              <a:ext cx="6953250" cy="857250"/>
            </a:xfrm>
            <a:prstGeom prst="roundRect">
              <a:avLst>
                <a:gd name="adj" fmla="val 17778"/>
              </a:avLst>
            </a:prstGeom>
            <a:solidFill>
              <a:srgbClr val="287AF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00244" y="4397375"/>
              <a:ext cx="54830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统一时间线 → 本地合成与渲染 → MP4 + 源工程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02530" y="48037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1EFFF"/>
                  </a:solidFill>
                  <a:latin typeface="+mn-lt"/>
                  <a:ea typeface="+mn-ea"/>
                  <a:cs typeface="+mn-cs"/>
                </a:rPr>
                <a:t>换字幕、动作或音量，改对应代码、素材和参数。</a:t>
              </a:r>
            </a:p>
          </p:txBody>
        </p:sp>
      </p:grpSp>
      <p:grpSp>
        <p:nvGrpSpPr>
          <p:cNvPr id="48" name="reuse-benefit"/>
          <p:cNvGrpSpPr/>
          <p:nvPr/>
        </p:nvGrpSpPr>
        <p:grpSpPr>
          <a:xfrm>
            <a:off x="497681" y="5426075"/>
            <a:ext cx="3333274" cy="699770"/>
            <a:chOff x="497681" y="5426075"/>
            <a:chExt cx="3333274" cy="699770"/>
          </a:xfrm>
        </p:grpSpPr>
        <p:grpSp>
          <p:nvGrpSpPr>
            <p:cNvPr id="45" name="Group 45"/>
            <p:cNvGrpSpPr/>
            <p:nvPr/>
          </p:nvGrpSpPr>
          <p:grpSpPr>
            <a:xfrm>
              <a:off x="497681" y="5479256"/>
              <a:ext cx="242888" cy="242888"/>
              <a:chOff x="497681" y="5479256"/>
              <a:chExt cx="242888" cy="24288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59607" y="5546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97681" y="5479256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202407"/>
                    </a:lnTo>
                    <a:cubicBezTo>
                      <a:pt x="242888" y="224764"/>
                      <a:pt x="224764" y="242888"/>
                      <a:pt x="202407" y="242888"/>
                    </a:cubicBezTo>
                    <a:lnTo>
                      <a:pt x="40481" y="242888"/>
                    </a:lnTo>
                    <a:cubicBezTo>
                      <a:pt x="18124" y="242888"/>
                      <a:pt x="0" y="224764"/>
                      <a:pt x="0" y="202407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97681" y="5575157"/>
                <a:ext cx="175419" cy="79519"/>
              </a:xfrm>
              <a:custGeom>
                <a:avLst/>
                <a:gdLst/>
                <a:ahLst/>
                <a:cxnLst/>
                <a:rect l="l" t="t" r="r" b="b"/>
                <a:pathLst>
                  <a:path w="175419" h="79519">
                    <a:moveTo>
                      <a:pt x="0" y="79519"/>
                    </a:moveTo>
                    <a:lnTo>
                      <a:pt x="67469" y="12050"/>
                    </a:lnTo>
                    <a:cubicBezTo>
                      <a:pt x="79991" y="0"/>
                      <a:pt x="95428" y="0"/>
                      <a:pt x="107950" y="12050"/>
                    </a:cubicBezTo>
                    <a:lnTo>
                      <a:pt x="175419" y="79519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6113" y="5602144"/>
                <a:ext cx="94456" cy="5253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52531">
                    <a:moveTo>
                      <a:pt x="0" y="25544"/>
                    </a:moveTo>
                    <a:lnTo>
                      <a:pt x="13494" y="12050"/>
                    </a:lnTo>
                    <a:cubicBezTo>
                      <a:pt x="26016" y="0"/>
                      <a:pt x="41453" y="0"/>
                      <a:pt x="53975" y="12050"/>
                    </a:cubicBezTo>
                    <a:lnTo>
                      <a:pt x="94456" y="52531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23544" y="54260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素材一次生成，多次复用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5830" y="58324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减少重复调用外部生成服务</a:t>
              </a:r>
            </a:p>
          </p:txBody>
        </p:sp>
      </p:grpSp>
      <p:grpSp>
        <p:nvGrpSpPr>
          <p:cNvPr id="61" name="edit-benefit"/>
          <p:cNvGrpSpPr/>
          <p:nvPr/>
        </p:nvGrpSpPr>
        <p:grpSpPr>
          <a:xfrm>
            <a:off x="4244975" y="5426075"/>
            <a:ext cx="2853055" cy="699770"/>
            <a:chOff x="4244975" y="5426075"/>
            <a:chExt cx="2853055" cy="699770"/>
          </a:xfrm>
        </p:grpSpPr>
        <p:grpSp>
          <p:nvGrpSpPr>
            <p:cNvPr id="58" name="Group 58"/>
            <p:cNvGrpSpPr/>
            <p:nvPr/>
          </p:nvGrpSpPr>
          <p:grpSpPr>
            <a:xfrm>
              <a:off x="4244975" y="5492750"/>
              <a:ext cx="215901" cy="215901"/>
              <a:chOff x="4244975" y="5492750"/>
              <a:chExt cx="215901" cy="2159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4352925" y="549275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4244975" y="5519738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406901" y="5519738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271963" y="557371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4975" y="5600700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325938" y="5600700"/>
                <a:ext cx="1349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9525">
                    <a:moveTo>
                      <a:pt x="0" y="0"/>
                    </a:moveTo>
                    <a:lnTo>
                      <a:pt x="134938" y="0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393407" y="565467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244975" y="5681663"/>
                <a:ext cx="14843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9525">
                    <a:moveTo>
                      <a:pt x="0" y="0"/>
                    </a:moveTo>
                    <a:lnTo>
                      <a:pt x="148432" y="0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447382" y="5681663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0" y="0"/>
                    </a:moveTo>
                    <a:lnTo>
                      <a:pt x="13494" y="0"/>
                    </a:lnTo>
                  </a:path>
                </a:pathLst>
              </a:custGeom>
              <a:noFill/>
              <a:ln w="26988">
                <a:solidFill>
                  <a:srgbClr val="287AF0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4657344" y="542607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修改范围容易定位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59630" y="58324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只更新受影响的轨道与素材</a:t>
              </a:r>
            </a:p>
          </p:txBody>
        </p:sp>
      </p:grpSp>
      <p:grpSp>
        <p:nvGrpSpPr>
          <p:cNvPr id="65" name="budget-benefit"/>
          <p:cNvGrpSpPr/>
          <p:nvPr/>
        </p:nvGrpSpPr>
        <p:grpSpPr>
          <a:xfrm>
            <a:off x="7965281" y="5426075"/>
            <a:ext cx="3068479" cy="699770"/>
            <a:chOff x="7965281" y="5426075"/>
            <a:chExt cx="3068479" cy="699770"/>
          </a:xfrm>
        </p:grpSpPr>
        <p:sp>
          <p:nvSpPr>
            <p:cNvPr id="62" name="Freeform 62"/>
            <p:cNvSpPr/>
            <p:nvPr/>
          </p:nvSpPr>
          <p:spPr>
            <a:xfrm>
              <a:off x="7965281" y="5492750"/>
              <a:ext cx="242888" cy="202407"/>
            </a:xfrm>
            <a:custGeom>
              <a:avLst/>
              <a:gdLst/>
              <a:ahLst/>
              <a:cxnLst/>
              <a:rect l="l" t="t" r="r" b="b"/>
              <a:pathLst>
                <a:path w="242888" h="202407">
                  <a:moveTo>
                    <a:pt x="26988" y="0"/>
                  </a:moveTo>
                  <a:lnTo>
                    <a:pt x="80963" y="0"/>
                  </a:lnTo>
                  <a:lnTo>
                    <a:pt x="121444" y="40481"/>
                  </a:lnTo>
                  <a:lnTo>
                    <a:pt x="215901" y="40481"/>
                  </a:lnTo>
                  <a:cubicBezTo>
                    <a:pt x="230805" y="40481"/>
                    <a:pt x="242888" y="52564"/>
                    <a:pt x="242888" y="67469"/>
                  </a:cubicBezTo>
                  <a:lnTo>
                    <a:pt x="242888" y="175419"/>
                  </a:lnTo>
                  <a:cubicBezTo>
                    <a:pt x="242888" y="190324"/>
                    <a:pt x="230805" y="202407"/>
                    <a:pt x="215901" y="202407"/>
                  </a:cubicBezTo>
                  <a:lnTo>
                    <a:pt x="26988" y="202407"/>
                  </a:lnTo>
                  <a:cubicBezTo>
                    <a:pt x="12083" y="202407"/>
                    <a:pt x="0" y="190324"/>
                    <a:pt x="0" y="175419"/>
                  </a:cubicBezTo>
                  <a:lnTo>
                    <a:pt x="0" y="26988"/>
                  </a:lnTo>
                  <a:cubicBezTo>
                    <a:pt x="0" y="12083"/>
                    <a:pt x="12083" y="0"/>
                    <a:pt x="26988" y="0"/>
                  </a:cubicBezTo>
                </a:path>
              </a:pathLst>
            </a:custGeom>
            <a:noFill/>
            <a:ln w="26988">
              <a:solidFill>
                <a:srgbClr val="287AF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91144" y="54260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生成与渲染分别管理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93430" y="5832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云端调用、本地算力分别规划</a:t>
              </a:r>
            </a:p>
          </p:txBody>
        </p:sp>
      </p:grpSp>
      <p:grpSp>
        <p:nvGrpSpPr>
          <p:cNvPr id="67" name="cost-caveat"/>
          <p:cNvGrpSpPr/>
          <p:nvPr/>
        </p:nvGrpSpPr>
        <p:grpSpPr>
          <a:xfrm>
            <a:off x="451104" y="6229350"/>
            <a:ext cx="7766304" cy="234696"/>
            <a:chOff x="451104" y="6229350"/>
            <a:chExt cx="7766304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451104" y="6229350"/>
              <a:ext cx="7766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更适合界面、信息图与演播室；不替代任意实拍镜头。智能体、素材与渲染仍有成本，不承诺固定省钱倍数。</a:t>
              </a:r>
            </a:p>
          </p:txBody>
        </p:sp>
      </p:grpSp>
      <p:grpSp>
        <p:nvGrpSpPr>
          <p:cNvPr id="69" name="source-credit"/>
          <p:cNvGrpSpPr/>
          <p:nvPr/>
        </p:nvGrpSpPr>
        <p:grpSpPr>
          <a:xfrm>
            <a:off x="451104" y="6505575"/>
            <a:ext cx="6283693" cy="234696"/>
            <a:chOff x="451104" y="6505575"/>
            <a:chExt cx="6283693" cy="234696"/>
          </a:xfrm>
        </p:grpSpPr>
        <p:sp>
          <p:nvSpPr>
            <p:cNvPr id="68" name="TextBox 68">
              <a:hlinkClick r:id="rId3"/>
            </p:cNvPr>
            <p:cNvSpPr txBox="1"/>
            <p:nvPr/>
          </p:nvSpPr>
          <p:spPr>
            <a:xfrm>
              <a:off x="451104" y="6505575"/>
              <a:ext cx="6283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参考：ByteDance Seed 官方产品说明；本地 Video Master 工程。点击查看官方来源。</a:t>
              </a:r>
            </a:p>
          </p:txBody>
        </p:sp>
      </p:grpSp>
      <p:sp>
        <p:nvSpPr>
          <p:cNvPr id="70" name="TextBox 70"/>
          <p:cNvSpPr/>
          <p:nvPr/>
        </p:nvSpPr>
        <p:spPr>
          <a:xfrm>
            <a:off x="11187494" y="6505575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200" dirty="0">
                <a:solidFill>
                  <a:srgbClr val="48729C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</p:spTree>
  </p:cSld>
  <p:clrMapOvr>
    <a:masterClrMapping/>
  </p:clrMapOvr>
  <mc:AlternateContent>
    <mc:Choice Requires="p14">
      <p:transition spd="slow" p14:dur="900">
        <p:split/>
      </p:transition>
    </mc:Choice>
    <mc:Fallback>
      <p:transition spd="slow">
        <p:spli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1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70"/>
                            </p:stCondLst>
                            <p:childTnLst>
                              <p:par>
                                <p:cTn id="20" presetID="37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3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390"/>
                            </p:stCondLst>
                            <p:childTnLst>
                              <p:par>
                                <p:cTn id="31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4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440436" y="374650"/>
            <a:ext cx="7141464" cy="988314"/>
            <a:chOff x="440436" y="374650"/>
            <a:chExt cx="7141464" cy="988314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374650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11 / 实际验证与边界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0436" y="71755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已经跑通长片交付，也保留清晰边界</a:t>
              </a:r>
            </a:p>
          </p:txBody>
        </p:sp>
      </p:grpSp>
      <p:grpSp>
        <p:nvGrpSpPr>
          <p:cNvPr id="7" name="duration-proof"/>
          <p:cNvGrpSpPr/>
          <p:nvPr/>
        </p:nvGrpSpPr>
        <p:grpSpPr>
          <a:xfrm>
            <a:off x="438150" y="1682750"/>
            <a:ext cx="1844040" cy="1128395"/>
            <a:chOff x="438150" y="1682750"/>
            <a:chExt cx="1844040" cy="1128395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168275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8:37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9580" y="25177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实际演播室成片时长</a:t>
              </a:r>
            </a:p>
          </p:txBody>
        </p:sp>
      </p:grpSp>
      <p:grpSp>
        <p:nvGrpSpPr>
          <p:cNvPr id="10" name="quality-proof"/>
          <p:cNvGrpSpPr/>
          <p:nvPr/>
        </p:nvGrpSpPr>
        <p:grpSpPr>
          <a:xfrm>
            <a:off x="3581400" y="1682750"/>
            <a:ext cx="2119274" cy="1128395"/>
            <a:chOff x="3581400" y="1682750"/>
            <a:chExt cx="2119274" cy="1128395"/>
          </a:xfrm>
        </p:grpSpPr>
        <p:sp>
          <p:nvSpPr>
            <p:cNvPr id="8" name="TextBox 8"/>
            <p:cNvSpPr txBox="1"/>
            <p:nvPr/>
          </p:nvSpPr>
          <p:spPr>
            <a:xfrm>
              <a:off x="3581400" y="16827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1080p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92830" y="2517775"/>
              <a:ext cx="2107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30 fps · MP4 + 源工程</a:t>
              </a:r>
            </a:p>
          </p:txBody>
        </p:sp>
      </p:grpSp>
      <p:grpSp>
        <p:nvGrpSpPr>
          <p:cNvPr id="13" name="delivery-evidence"/>
          <p:cNvGrpSpPr/>
          <p:nvPr/>
        </p:nvGrpSpPr>
        <p:grpSpPr>
          <a:xfrm>
            <a:off x="7239000" y="1714500"/>
            <a:ext cx="4495800" cy="3581400"/>
            <a:chOff x="7239000" y="1714500"/>
            <a:chExt cx="4495800" cy="3581400"/>
          </a:xfrm>
        </p:grpSpPr>
        <p:sp>
          <p:nvSpPr>
            <p:cNvPr id="11" name="Rectangle 11"/>
            <p:cNvSpPr/>
            <p:nvPr/>
          </p:nvSpPr>
          <p:spPr>
            <a:xfrm>
              <a:off x="7239000" y="1714500"/>
              <a:ext cx="4495800" cy="3581400"/>
            </a:xfrm>
            <a:prstGeom prst="roundRect">
              <a:avLst>
                <a:gd name="adj" fmla="val 4787"/>
              </a:avLst>
            </a:prstGeom>
            <a:solidFill>
              <a:srgbClr val="DCEAF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9012" y="1809750"/>
              <a:ext cx="4295775" cy="3390900"/>
            </a:xfrm>
            <a:prstGeom prst="rect">
              <a:avLst/>
            </a:prstGeom>
          </p:spPr>
        </p:pic>
      </p:grpSp>
      <p:grpSp>
        <p:nvGrpSpPr>
          <p:cNvPr id="17" name="checks"/>
          <p:cNvGrpSpPr/>
          <p:nvPr/>
        </p:nvGrpSpPr>
        <p:grpSpPr>
          <a:xfrm>
            <a:off x="524669" y="3206750"/>
            <a:ext cx="4576159" cy="775970"/>
            <a:chOff x="524669" y="3206750"/>
            <a:chExt cx="4576159" cy="775970"/>
          </a:xfrm>
        </p:grpSpPr>
        <p:sp>
          <p:nvSpPr>
            <p:cNvPr id="14" name="Freeform 14"/>
            <p:cNvSpPr/>
            <p:nvPr/>
          </p:nvSpPr>
          <p:spPr>
            <a:xfrm>
              <a:off x="524669" y="3275806"/>
              <a:ext cx="202407" cy="134938"/>
            </a:xfrm>
            <a:custGeom>
              <a:avLst/>
              <a:gdLst/>
              <a:ahLst/>
              <a:cxnLst/>
              <a:rect l="l" t="t" r="r" b="b"/>
              <a:pathLst>
                <a:path w="202407" h="134938">
                  <a:moveTo>
                    <a:pt x="0" y="67469"/>
                  </a:moveTo>
                  <a:lnTo>
                    <a:pt x="67469" y="134938"/>
                  </a:lnTo>
                  <a:lnTo>
                    <a:pt x="202407" y="0"/>
                  </a:lnTo>
                </a:path>
              </a:pathLst>
            </a:custGeom>
            <a:noFill/>
            <a:ln w="26988">
              <a:solidFill>
                <a:srgbClr val="287A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3544" y="3206750"/>
              <a:ext cx="40585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检查真实 MP4，不只检查网页预览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5830" y="3689350"/>
              <a:ext cx="4174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解码 · 字幕边界 · 对话空隙 · 转场 · 音画同步</a:t>
              </a:r>
            </a:p>
          </p:txBody>
        </p:sp>
      </p:grpSp>
      <p:grpSp>
        <p:nvGrpSpPr>
          <p:cNvPr id="21" name="cost-boundary"/>
          <p:cNvGrpSpPr/>
          <p:nvPr/>
        </p:nvGrpSpPr>
        <p:grpSpPr>
          <a:xfrm>
            <a:off x="447294" y="4511675"/>
            <a:ext cx="4258056" cy="1071245"/>
            <a:chOff x="447294" y="4511675"/>
            <a:chExt cx="4258056" cy="1071245"/>
          </a:xfrm>
        </p:grpSpPr>
        <p:sp>
          <p:nvSpPr>
            <p:cNvPr id="18" name="TextBox 18"/>
            <p:cNvSpPr txBox="1"/>
            <p:nvPr/>
          </p:nvSpPr>
          <p:spPr>
            <a:xfrm>
              <a:off x="447294" y="45116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低成本来自制作方式的选择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9580" y="49752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主视觉代码渲染，减少逐段调用文生视频。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9580" y="52895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智能体、配音、生图和本地算力仍可能有成本。</a:t>
              </a:r>
            </a:p>
          </p:txBody>
        </p:sp>
      </p:grpSp>
      <p:grpSp>
        <p:nvGrpSpPr>
          <p:cNvPr id="24" name="roadmap"/>
          <p:cNvGrpSpPr/>
          <p:nvPr/>
        </p:nvGrpSpPr>
        <p:grpSpPr>
          <a:xfrm>
            <a:off x="457200" y="5753100"/>
            <a:ext cx="11277600" cy="523875"/>
            <a:chOff x="457200" y="5753100"/>
            <a:chExt cx="11277600" cy="523875"/>
          </a:xfrm>
        </p:grpSpPr>
        <p:sp>
          <p:nvSpPr>
            <p:cNvPr id="22" name="Rectangle 22"/>
            <p:cNvSpPr/>
            <p:nvPr/>
          </p:nvSpPr>
          <p:spPr>
            <a:xfrm>
              <a:off x="457200" y="5753100"/>
              <a:ext cx="11277600" cy="523875"/>
            </a:xfrm>
            <a:prstGeom prst="roundRect">
              <a:avLst>
                <a:gd name="adj" fmla="val 25455"/>
              </a:avLst>
            </a:prstGeom>
            <a:solidFill>
              <a:srgbClr val="12376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180" y="59277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下一步：渲染加速、更多动作与声音编排、跨环境稳定性。当前不承诺实时导出。</a:t>
              </a:r>
            </a:p>
          </p:txBody>
        </p:sp>
      </p:grpSp>
      <p:grpSp>
        <p:nvGrpSpPr>
          <p:cNvPr id="26" name="release-label"/>
          <p:cNvGrpSpPr/>
          <p:nvPr/>
        </p:nvGrpSpPr>
        <p:grpSpPr>
          <a:xfrm>
            <a:off x="7231380" y="5461000"/>
            <a:ext cx="2776128" cy="293370"/>
            <a:chOff x="7231380" y="5461000"/>
            <a:chExt cx="2776128" cy="293370"/>
          </a:xfrm>
        </p:grpSpPr>
        <p:sp>
          <p:nvSpPr>
            <p:cNvPr id="25" name="TextBox 25"/>
            <p:cNvSpPr txBox="1"/>
            <p:nvPr/>
          </p:nvSpPr>
          <p:spPr>
            <a:xfrm>
              <a:off x="7231380" y="5461000"/>
              <a:ext cx="2776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87AF0"/>
                  </a:solidFill>
                  <a:latin typeface="+mn-lt"/>
                  <a:ea typeface="+mn-ea"/>
                  <a:cs typeface="+mn-cs"/>
                </a:rPr>
                <a:t>v0.2.0 · 源码与安装包已发布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451104" y="6505575"/>
            <a:ext cx="11289792" cy="234696"/>
            <a:chOff x="451104" y="6505575"/>
            <a:chExt cx="112897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6505575"/>
              <a:ext cx="5213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数据来源：本地正式成片及 final-export-v1-qa.json；下一步为规划。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11187494" y="650557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48729C"/>
                  </a:solidFill>
                  <a:latin typeface="Microsoft YaHei"/>
                  <a:ea typeface="Microsoft YaHei"/>
                  <a:cs typeface="Microsoft YaHei"/>
                </a:rPr>
                <a:t>14 / 15</a:t>
              </a:r>
            </a:p>
          </p:txBody>
        </p:sp>
      </p:grpSp>
    </p:spTree>
  </p:cSld>
  <p:clrMapOvr>
    <a:masterClrMapping/>
  </p:clrMapOvr>
  <mc:AlternateContent>
    <mc:Choice Requires="p14">
      <p:transition spd="slow" p14:dur="900">
        <p14:reveal dir="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1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2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30"/>
                            </p:stCondLst>
                            <p:childTnLst>
                              <p:par>
                                <p:cTn id="30" presetID="37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>
      <p:bgPr>
        <a:gradFill>
          <a:gsLst>
            <a:gs pos="0">
              <a:srgbClr val="09213F"/>
            </a:gs>
            <a:gs pos="100000">
              <a:srgbClr val="2266C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one"/>
          <p:cNvSpPr/>
          <p:nvPr/>
        </p:nvSpPr>
        <p:spPr>
          <a:xfrm>
            <a:off x="3238500" y="742950"/>
            <a:ext cx="5715000" cy="5715000"/>
          </a:xfrm>
          <a:prstGeom prst="ellipse">
            <a:avLst/>
          </a:prstGeom>
          <a:noFill/>
          <a:ln w="19050">
            <a:solidFill>
              <a:srgbClr val="477FC0"/>
            </a:solidFill>
          </a:ln>
        </p:spPr>
      </p:sp>
      <p:sp>
        <p:nvSpPr>
          <p:cNvPr id="3" name="halo-two"/>
          <p:cNvSpPr/>
          <p:nvPr/>
        </p:nvSpPr>
        <p:spPr>
          <a:xfrm>
            <a:off x="3714750" y="1219200"/>
            <a:ext cx="4762500" cy="4762500"/>
          </a:xfrm>
          <a:prstGeom prst="ellipse">
            <a:avLst/>
          </a:prstGeom>
          <a:noFill/>
          <a:ln w="19050">
            <a:solidFill>
              <a:srgbClr val="477FC0"/>
            </a:solidFill>
          </a:ln>
        </p:spPr>
      </p:sp>
      <p:grpSp>
        <p:nvGrpSpPr>
          <p:cNvPr id="7" name="closing-claim"/>
          <p:cNvGrpSpPr/>
          <p:nvPr/>
        </p:nvGrpSpPr>
        <p:grpSpPr>
          <a:xfrm>
            <a:off x="2303145" y="508000"/>
            <a:ext cx="7585710" cy="1375156"/>
            <a:chOff x="2303145" y="508000"/>
            <a:chExt cx="7585710" cy="1375156"/>
          </a:xfrm>
        </p:grpSpPr>
        <p:sp>
          <p:nvSpPr>
            <p:cNvPr id="4" name="TextBox 4"/>
            <p:cNvSpPr txBox="1"/>
            <p:nvPr/>
          </p:nvSpPr>
          <p:spPr>
            <a:xfrm>
              <a:off x="4925449" y="508000"/>
              <a:ext cx="2341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9ECCFF"/>
                  </a:solidFill>
                  <a:latin typeface="+mn-lt"/>
                  <a:ea typeface="+mn-ea"/>
                  <a:cs typeface="+mn-cs"/>
                </a:rPr>
                <a:t>VIDEO MASTER · v0.2.0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303145" y="908050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从一句需求，到可继续修改的视频工程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592258" y="15017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带上你的主题，让下一支作品从这里开始。</a:t>
              </a:r>
            </a:p>
          </p:txBody>
        </p:sp>
      </p:grpSp>
      <p:grpSp>
        <p:nvGrpSpPr>
          <p:cNvPr id="9" name="closing-deepseek"/>
          <p:cNvGrpSpPr/>
          <p:nvPr/>
        </p:nvGrpSpPr>
        <p:grpSpPr>
          <a:xfrm>
            <a:off x="381000" y="2531269"/>
            <a:ext cx="2952750" cy="3338512"/>
            <a:chOff x="381000" y="2531269"/>
            <a:chExt cx="2952750" cy="3338512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0" y="2531269"/>
              <a:ext cx="2952750" cy="3338512"/>
            </a:xfrm>
            <a:prstGeom prst="rect">
              <a:avLst/>
            </a:prstGeom>
          </p:spPr>
        </p:pic>
      </p:grpSp>
      <p:grpSp>
        <p:nvGrpSpPr>
          <p:cNvPr id="11" name="closing-chatgpt"/>
          <p:cNvGrpSpPr/>
          <p:nvPr/>
        </p:nvGrpSpPr>
        <p:grpSpPr>
          <a:xfrm>
            <a:off x="8858250" y="2543175"/>
            <a:ext cx="2952750" cy="3314700"/>
            <a:chOff x="8858250" y="2543175"/>
            <a:chExt cx="2952750" cy="33147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58250" y="2543175"/>
              <a:ext cx="2952750" cy="3314700"/>
            </a:xfrm>
            <a:prstGeom prst="rect">
              <a:avLst/>
            </a:prstGeom>
          </p:spPr>
        </p:pic>
      </p:grpSp>
      <p:grpSp>
        <p:nvGrpSpPr>
          <p:cNvPr id="16" name="repository"/>
          <p:cNvGrpSpPr/>
          <p:nvPr/>
        </p:nvGrpSpPr>
        <p:grpSpPr>
          <a:xfrm>
            <a:off x="3486150" y="2190750"/>
            <a:ext cx="5219700" cy="1181100"/>
            <a:chOff x="3486150" y="2190750"/>
            <a:chExt cx="5219700" cy="1181100"/>
          </a:xfrm>
        </p:grpSpPr>
        <p:sp>
          <p:nvSpPr>
            <p:cNvPr id="12" name="Rectangle 12">
              <a:hlinkClick r:id="rId5"/>
            </p:cNvPr>
            <p:cNvSpPr/>
            <p:nvPr/>
          </p:nvSpPr>
          <p:spPr>
            <a:xfrm>
              <a:off x="3486150" y="2190750"/>
              <a:ext cx="5219700" cy="1181100"/>
            </a:xfrm>
            <a:prstGeom prst="roundRect">
              <a:avLst>
                <a:gd name="adj" fmla="val 177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Freeform 13">
              <a:hlinkClick r:id="rId5"/>
            </p:cNvPr>
            <p:cNvSpPr/>
            <p:nvPr/>
          </p:nvSpPr>
          <p:spPr>
            <a:xfrm>
              <a:off x="3733800" y="2510969"/>
              <a:ext cx="476249" cy="466288"/>
            </a:xfrm>
            <a:custGeom>
              <a:avLst/>
              <a:gdLst/>
              <a:ahLst/>
              <a:cxnLst/>
              <a:rect l="l" t="t" r="r" b="b"/>
              <a:pathLst>
                <a:path w="476249" h="466288">
                  <a:moveTo>
                    <a:pt x="238125" y="0"/>
                  </a:moveTo>
                  <a:cubicBezTo>
                    <a:pt x="106561" y="0"/>
                    <a:pt x="0" y="106620"/>
                    <a:pt x="0" y="238125"/>
                  </a:cubicBezTo>
                  <a:cubicBezTo>
                    <a:pt x="0" y="343356"/>
                    <a:pt x="68223" y="432593"/>
                    <a:pt x="162818" y="464045"/>
                  </a:cubicBezTo>
                  <a:cubicBezTo>
                    <a:pt x="174724" y="466288"/>
                    <a:pt x="179090" y="458926"/>
                    <a:pt x="179090" y="452596"/>
                  </a:cubicBezTo>
                  <a:cubicBezTo>
                    <a:pt x="179090" y="446940"/>
                    <a:pt x="178891" y="431958"/>
                    <a:pt x="178792" y="412114"/>
                  </a:cubicBezTo>
                  <a:cubicBezTo>
                    <a:pt x="112554" y="426481"/>
                    <a:pt x="98584" y="380166"/>
                    <a:pt x="98584" y="380166"/>
                  </a:cubicBezTo>
                  <a:cubicBezTo>
                    <a:pt x="87749" y="352682"/>
                    <a:pt x="72092" y="345340"/>
                    <a:pt x="72092" y="345340"/>
                  </a:cubicBezTo>
                  <a:cubicBezTo>
                    <a:pt x="50522" y="330577"/>
                    <a:pt x="73759" y="330874"/>
                    <a:pt x="73759" y="330874"/>
                  </a:cubicBezTo>
                  <a:cubicBezTo>
                    <a:pt x="97671" y="332541"/>
                    <a:pt x="110232" y="355401"/>
                    <a:pt x="110232" y="355401"/>
                  </a:cubicBezTo>
                  <a:cubicBezTo>
                    <a:pt x="131465" y="391814"/>
                    <a:pt x="165973" y="381297"/>
                    <a:pt x="179586" y="375205"/>
                  </a:cubicBezTo>
                  <a:cubicBezTo>
                    <a:pt x="181729" y="359806"/>
                    <a:pt x="187860" y="349309"/>
                    <a:pt x="194667" y="343356"/>
                  </a:cubicBezTo>
                  <a:cubicBezTo>
                    <a:pt x="141783" y="337403"/>
                    <a:pt x="86201" y="316924"/>
                    <a:pt x="86201" y="225683"/>
                  </a:cubicBezTo>
                  <a:cubicBezTo>
                    <a:pt x="86201" y="199687"/>
                    <a:pt x="95428" y="178455"/>
                    <a:pt x="110708" y="161786"/>
                  </a:cubicBezTo>
                  <a:cubicBezTo>
                    <a:pt x="108029" y="155773"/>
                    <a:pt x="99992" y="131564"/>
                    <a:pt x="112792" y="98762"/>
                  </a:cubicBezTo>
                  <a:cubicBezTo>
                    <a:pt x="112792" y="98762"/>
                    <a:pt x="132735" y="92373"/>
                    <a:pt x="178276" y="123170"/>
                  </a:cubicBezTo>
                  <a:cubicBezTo>
                    <a:pt x="197326" y="117872"/>
                    <a:pt x="217567" y="115252"/>
                    <a:pt x="237807" y="115133"/>
                  </a:cubicBezTo>
                  <a:cubicBezTo>
                    <a:pt x="258048" y="115252"/>
                    <a:pt x="278288" y="117872"/>
                    <a:pt x="297338" y="123170"/>
                  </a:cubicBezTo>
                  <a:cubicBezTo>
                    <a:pt x="342582" y="92373"/>
                    <a:pt x="362525" y="98762"/>
                    <a:pt x="362525" y="98762"/>
                  </a:cubicBezTo>
                  <a:cubicBezTo>
                    <a:pt x="375324" y="131564"/>
                    <a:pt x="367287" y="155773"/>
                    <a:pt x="364906" y="161786"/>
                  </a:cubicBezTo>
                  <a:cubicBezTo>
                    <a:pt x="380087" y="178455"/>
                    <a:pt x="389314" y="199687"/>
                    <a:pt x="389314" y="225683"/>
                  </a:cubicBezTo>
                  <a:cubicBezTo>
                    <a:pt x="389314" y="317162"/>
                    <a:pt x="333652" y="337304"/>
                    <a:pt x="280670" y="343157"/>
                  </a:cubicBezTo>
                  <a:cubicBezTo>
                    <a:pt x="289004" y="350301"/>
                    <a:pt x="296743" y="364906"/>
                    <a:pt x="296743" y="387210"/>
                  </a:cubicBezTo>
                  <a:cubicBezTo>
                    <a:pt x="296743" y="419079"/>
                    <a:pt x="296445" y="444678"/>
                    <a:pt x="296445" y="452417"/>
                  </a:cubicBezTo>
                  <a:cubicBezTo>
                    <a:pt x="296445" y="458668"/>
                    <a:pt x="300612" y="466109"/>
                    <a:pt x="312816" y="463728"/>
                  </a:cubicBezTo>
                  <a:cubicBezTo>
                    <a:pt x="408086" y="432494"/>
                    <a:pt x="476249" y="343197"/>
                    <a:pt x="476249" y="238125"/>
                  </a:cubicBezTo>
                  <a:cubicBezTo>
                    <a:pt x="476249" y="106620"/>
                    <a:pt x="369629" y="0"/>
                    <a:pt x="238125" y="0"/>
                  </a:cubicBezTo>
                </a:path>
              </a:pathLst>
            </a:custGeom>
            <a:solidFill>
              <a:srgbClr val="123766"/>
            </a:solidFill>
            <a:ln>
              <a:noFill/>
            </a:ln>
          </p:spPr>
        </p:sp>
        <p:sp>
          <p:nvSpPr>
            <p:cNvPr id="14" name="TextBox 14">
              <a:hlinkClick r:id="rId5"/>
            </p:cNvPr>
            <p:cNvSpPr txBox="1"/>
            <p:nvPr/>
          </p:nvSpPr>
          <p:spPr>
            <a:xfrm>
              <a:off x="4390644" y="2454275"/>
              <a:ext cx="28268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23766"/>
                  </a:solidFill>
                  <a:latin typeface="+mn-lt"/>
                  <a:ea typeface="+mn-ea"/>
                  <a:cs typeface="+mn-cs"/>
                </a:rPr>
                <a:t>Tikzen/video-master</a:t>
              </a:r>
            </a:p>
          </p:txBody>
        </p:sp>
        <p:sp>
          <p:nvSpPr>
            <p:cNvPr id="15" name="TextBox 15">
              <a:hlinkClick r:id="rId5"/>
            </p:cNvPr>
            <p:cNvSpPr txBox="1"/>
            <p:nvPr/>
          </p:nvSpPr>
          <p:spPr>
            <a:xfrm>
              <a:off x="4392930" y="2889250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8729C"/>
                  </a:solidFill>
                  <a:latin typeface="+mn-lt"/>
                  <a:ea typeface="+mn-ea"/>
                  <a:cs typeface="+mn-cs"/>
                </a:rPr>
                <a:t>源码 · 安装包 · 使用说明</a:t>
              </a:r>
            </a:p>
          </p:txBody>
        </p:sp>
      </p:grpSp>
      <p:grpSp>
        <p:nvGrpSpPr>
          <p:cNvPr id="19" name="qr-action"/>
          <p:cNvGrpSpPr/>
          <p:nvPr/>
        </p:nvGrpSpPr>
        <p:grpSpPr>
          <a:xfrm>
            <a:off x="5143500" y="3590925"/>
            <a:ext cx="1905000" cy="2392045"/>
            <a:chOff x="5143500" y="3590925"/>
            <a:chExt cx="1905000" cy="2392045"/>
          </a:xfrm>
        </p:grpSpPr>
        <p:pic>
          <p:nvPicPr>
            <p:cNvPr id="17" name="Image 17">
              <a:hlinkClick r:id="rId5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43500" y="3590925"/>
              <a:ext cx="1905000" cy="1905000"/>
            </a:xfrm>
            <a:prstGeom prst="rect">
              <a:avLst/>
            </a:prstGeom>
          </p:spPr>
        </p:pic>
        <p:sp>
          <p:nvSpPr>
            <p:cNvPr id="18" name="TextBox 18">
              <a:hlinkClick r:id="rId5"/>
            </p:cNvPr>
            <p:cNvSpPr txBox="1"/>
            <p:nvPr/>
          </p:nvSpPr>
          <p:spPr>
            <a:xfrm>
              <a:off x="5482590" y="56896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扫码访问项目</a:t>
              </a:r>
            </a:p>
          </p:txBody>
        </p:sp>
      </p:grpSp>
      <p:grpSp>
        <p:nvGrpSpPr>
          <p:cNvPr id="21" name="inspiration-credit"/>
          <p:cNvGrpSpPr/>
          <p:nvPr/>
        </p:nvGrpSpPr>
        <p:grpSpPr>
          <a:xfrm>
            <a:off x="3159531" y="6315075"/>
            <a:ext cx="5872937" cy="234696"/>
            <a:chOff x="3159531" y="6315075"/>
            <a:chExt cx="5872937" cy="234696"/>
          </a:xfrm>
        </p:grpSpPr>
        <p:sp>
          <p:nvSpPr>
            <p:cNvPr id="20" name="TextBox 20">
              <a:hlinkClick r:id="rId7"/>
            </p:cNvPr>
            <p:cNvSpPr txBox="1"/>
            <p:nvPr/>
          </p:nvSpPr>
          <p:spPr>
            <a:xfrm>
              <a:off x="3159531" y="6315075"/>
              <a:ext cx="5872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7D6F4"/>
                  </a:solidFill>
                  <a:latin typeface="+mn-lt"/>
                  <a:ea typeface="+mn-ea"/>
                  <a:cs typeface="+mn-cs"/>
                </a:rPr>
                <a:t>特别感谢 hugohe3/ppt-master 提供项目灵感；本 PPT 使用 PPT Master 制作。</a:t>
              </a:r>
            </a:p>
          </p:txBody>
        </p:sp>
      </p:grpSp>
      <p:sp>
        <p:nvSpPr>
          <p:cNvPr id="22" name="TextBox 22"/>
          <p:cNvSpPr/>
          <p:nvPr/>
        </p:nvSpPr>
        <p:spPr>
          <a:xfrm>
            <a:off x="11187494" y="6505575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200" dirty="0">
                <a:solidFill>
                  <a:srgbClr val="9DBDDC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</p:spTree>
  </p:cSld>
  <p:clrMapOvr>
    <a:masterClrMapping/>
  </p:clrMapOvr>
  <mc:AlternateContent>
    <mc:Choice Requires="p15">
      <p:transition spd="slow" p14:dur="1200">
        <p15:prstTrans prst="curtains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60"/>
                            </p:stCondLst>
                            <p:childTnLst>
                              <p:par>
                                <p:cTn id="15" presetID="3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2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2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2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2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0" accel="100000" fill="hold">
                                          <p:stCondLst>
                                            <p:cond delay="52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0" accel="100000" fill="hold">
                                          <p:stCondLst>
                                            <p:cond delay="52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60"/>
                            </p:stCondLst>
                            <p:childTnLst>
                              <p:par>
                                <p:cTn id="24" presetID="3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2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2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2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30" accel="100000" fill="hold">
                                          <p:stCondLst>
                                            <p:cond delay="52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30" accel="100000" fill="hold">
                                          <p:stCondLst>
                                            <p:cond delay="52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66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ideo-master-roadshow">
  <a:themeElements>
    <a:clrScheme name="video-master-roadsho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ideo-master-roadshow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deo-master-roadsh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ideo-master-roadshow">
  <a:themeElements>
    <a:clrScheme name="video-master-roadsho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ideo-master-roadshow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deo-master-roadsh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5797</ns0:Words>
  <ns0:Application>Microsoft Office PowerPoint</ns0:Application>
  <ns0:PresentationFormat>宽屏</ns0:PresentationFormat>
  <ns0:Paragraphs>216</ns0:Paragraphs>
  <ns0:Slides>15</ns0:Slides>
  <ns0:Notes>14</ns0:Notes>
  <ns0:HiddenSlides>0</ns0:HiddenSlides>
  <ns0:MMClips>2</ns0:MMClips>
  <ns0:ScaleCrop>false</ns0:ScaleCrop>
  <ns0:HeadingPairs>
    <ns1:vector size="6" baseType="variant">
      <ns1:variant>
        <ns1:lpstr>已用的字体</ns1:lpstr>
      </ns1:variant>
      <ns1:variant>
        <ns1:i4>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14</ns1:i4>
      </ns1:variant>
    </ns1:vector>
  </ns0:HeadingPairs>
  <ns0:TitlesOfParts>
    <ns1:vector size="18" baseType="lpstr">
      <ns1:lpstr>Microsoft YaHei</ns1:lpstr>
      <ns1:lpstr>Arial</ns1:lpstr>
      <ns1:lpstr>Consolas</ns1:lpstr>
      <ns1:lpstr>video-master-roadshow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Manager/>
  <ns0:Company/>
  <ns0:LinksUpToDate>false</ns0:LinksUpToDate>
  <ns0:SharedDoc>false</ns0:SharedDoc>
  <ns0:HyperlinkBase/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KraKa Suzuki</cp:lastModifiedBy>
  <cp:revision>2</cp:revision>
  <dcterms:created xsi:type="dcterms:W3CDTF">2026-10-18T15:02:56Z</dcterms:created>
  <dcterms:modified xsi:type="dcterms:W3CDTF">2026-10-18T15:03:29Z</dcterms:modified>
  <cp:category/>
  <cp:contentStatus/>
  <dc:language>zh-CN</dc:language>
</cp:coreProperties>
</file>